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658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reveal. Let the white slide breathe for two seconds, then advance: the diamond opens into the NeuraTwin Halo title.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Neura Rangers. Our project is NeuraTwin Halo for CPRI Track 2: a digital twin for distribution transformer condition monitoring and predictive maintenance. An engineer needs more than a temperature reading. They need to know which transformer needs attention, why, and what to do next. NeuraTwin connects that decision to a prediction—and checks what happened afterward.”
MEDIA: fill the frame with your strongest actual transformer-twin screenshot or a short looping screen recording. Keep the title and team name unobstructed.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clip for 10–15 seconds, then say: “This reported Yelahanka incident involved an RMU. We are focusing on distribution-transformer health: a related grid-reliability problem, not a diagnosis of this incident.” Do not infer its cause.
Source: https://www.newindianexpress.com/cities/bengaluru/2026/Oct/08/five-injured-as-rmu-transformer-explode-in-bengaluru
MEDIA: insert the local authorised clip with Insert &gt; Video &gt; This Device, fit it to the frame and set playback as desired. Delete the frame label and play icon afterwards.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is the practical gap between collecting data and completing useful maintenance. We must improve decisions without requiring expensive instrumentation on every transformer.”
MEDIA: one engineer facing a small fleet of assets labelled warning, stale data, inspection overdue and insufficient evidence. A field photo or short clip works. Avoid invented failure statistics.
Chips (appear automatically after the transition): uneven visibility, deployment cost beyond sensor price, limited technician time, and alerts acknowledged without proof of resolution.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predicts how this asset should respond under stated conditions. When later measurements arrive, we test that prediction. That connection between the physical asset, model and decision gives the twin its substance.”
MEDIA: one large annotated transformer with measurements beside the relevant components, plus two clearly labelled scenario trajectories: continue and reduce load. Label supported thermal estimates.
Source for these notes: CIGRE transformer digital-twin framework,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propose the same sensor package everywhere. An asset with billing records gets planning support; a sufficiently instrumented asset can support validated predictions. During a communications gap, Halo shows how old the evidence is and when the current state becomes unknown.”
MEDIA: urban/rural fleet concept with visible data coverage, connectivity gaps and inspection priorities. Keep the amber tag unless this is built and demonstrated with real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experiment. We save the prediction before changing the load, then compare it with what the sensor records. A command acknowledgement alone is not proof that the physical response occurred.”
MEDIA: actual hardware photo or video, plus an actual predicted-versus-observed trace with the intervention time marked. If the run is unfinished, keep the amber tag as VALIDATION PROTOCOL; if you play a recorded run because thermal changes take longer than the pitch, change it to RECORDED RUN. Never invent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 can review remotely while the technician carries the evidence to the asset. The record preserves who acted, what they found and what happened afterward. Field actions follow approved utility procedures.”
MEDIA: one job card moving between engineer, technician and follow-up evidence. Show ownership and outcome (verified closure, escalation or inconclusive) more prominently than the NFC or Telegram logos. Remove the amber tag if the workflow is built.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step is a supervised pilot that measures whether these decisions are useful and affordable. We reuse the evidence a utility already has, add sensing where it matters, and preserve the link between a prediction, an action and its observed result.”
Proposed advantage: available data becomes a component-level twin, an actionable job and a verifiable outcome. Pilot request: authorised meter and maintenance records, plus a small supervised urban/rural comparison against current practice.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problem: imperfect visibility makes transformer-health decisions hard. Halo connects qualified readings, conditional forecasts, action comparison and a reviewable evidence trail. This is a software prototype; the next milestone is calibrated hardware and independent field evaluation.
Thank the judges. Say: “We are Neura Rangers, and this is NeuraTwin Halo for CPRI Track 2. We would be happy to show the live workflow and discuss the model assumptions, validation and deployment plan.” Use this slide for questions. Keep the simulator and a recorded backup ready.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6.xml"/><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1.jp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3.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2.png"/><Relationship Id="rId3" Type="http://schemas.openxmlformats.org/officeDocument/2006/relationships/slideLayout" Target="../slideLayouts/slideLayout1.xml"/><Relationship Id="rId7" Type="http://schemas.openxmlformats.org/officeDocument/2006/relationships/slide" Target="slide5.xml"/><Relationship Id="rId12" Type="http://schemas.openxmlformats.org/officeDocument/2006/relationships/slide" Target="slide10.xml"/><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notesSlide" Target="../notesSlides/notesSlide3.xml"/><Relationship Id="rId9" Type="http://schemas.openxmlformats.org/officeDocument/2006/relationships/slide" Target="slide7.xml"/></Relationships>
</file>

<file path=ppt/slides/_rels/slide4.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3.jpe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5.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4.jpe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6.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5.pn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7.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6.jp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8.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7.jp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9.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image" Target="../media/image8.jpg"/><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_rels/slide10.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hyperlink" Target="https://github.com/Induj1/neuratwin-halo" TargetMode="External"/><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bg1"/>
          </a:solidFill>
          <a:ln/>
        </p:spPr>
        <p:txBody>
          <a:bodyPr/>
          <a:lstStyle/>
          <a:p>
            <a:endParaRPr lang="en-IN"/>
          </a:p>
        </p:txBody>
      </p:sp>
      <p:sp>
        <p:nvSpPr>
          <p:cNvPr id="3" name="!!XBar0"/>
          <p:cNvSpPr/>
          <p:nvPr/>
        </p:nvSpPr>
        <p:spPr>
          <a:xfrm rot="2700000">
            <a:off x="5958688" y="3291840"/>
            <a:ext cx="274320" cy="274320"/>
          </a:xfrm>
          <a:prstGeom prst="rect">
            <a:avLst/>
          </a:prstGeom>
          <a:solidFill>
            <a:schemeClr val="bg1"/>
          </a:solidFill>
          <a:ln/>
        </p:spPr>
        <p:txBody>
          <a:bodyPr/>
          <a:lstStyle/>
          <a:p>
            <a:endParaRPr lang="en-IN"/>
          </a:p>
        </p:txBody>
      </p:sp>
      <p:sp>
        <p:nvSpPr>
          <p:cNvPr id="4" name="!!XBar1"/>
          <p:cNvSpPr/>
          <p:nvPr/>
        </p:nvSpPr>
        <p:spPr>
          <a:xfrm rot="18900000">
            <a:off x="5958688" y="3291840"/>
            <a:ext cx="274320" cy="274320"/>
          </a:xfrm>
          <a:prstGeom prst="rect">
            <a:avLst/>
          </a:prstGeom>
          <a:solidFill>
            <a:schemeClr val="bg1"/>
          </a:solidFill>
          <a:ln/>
        </p:spPr>
        <p:txBody>
          <a:bodyPr/>
          <a:lstStyle/>
          <a:p>
            <a:endParaRPr lang="en-IN"/>
          </a:p>
        </p:txBody>
      </p:sp>
      <p:sp>
        <p:nvSpPr>
          <p:cNvPr id="5" name="!!DiaL"/>
          <p:cNvSpPr/>
          <p:nvPr/>
        </p:nvSpPr>
        <p:spPr>
          <a:xfrm rot="2700000">
            <a:off x="4165052" y="2924669"/>
            <a:ext cx="1008662" cy="1008662"/>
          </a:xfrm>
          <a:prstGeom prst="rect">
            <a:avLst/>
          </a:prstGeom>
          <a:solidFill>
            <a:schemeClr val="bg1"/>
          </a:solidFill>
          <a:ln/>
        </p:spPr>
        <p:txBody>
          <a:bodyPr/>
          <a:lstStyle/>
          <a:p>
            <a:endParaRPr lang="en-IN"/>
          </a:p>
        </p:txBody>
      </p:sp>
      <p:sp>
        <p:nvSpPr>
          <p:cNvPr id="6" name="!!DiaR"/>
          <p:cNvSpPr/>
          <p:nvPr/>
        </p:nvSpPr>
        <p:spPr>
          <a:xfrm rot="2700000">
            <a:off x="7017980" y="2924669"/>
            <a:ext cx="1008662" cy="1008662"/>
          </a:xfrm>
          <a:prstGeom prst="rect">
            <a:avLst/>
          </a:prstGeom>
          <a:solidFill>
            <a:schemeClr val="bg1"/>
          </a:solidFill>
          <a:ln/>
        </p:spPr>
        <p:txBody>
          <a:bodyPr/>
          <a:lstStyle/>
          <a:p>
            <a:endParaRPr lang="en-IN"/>
          </a:p>
        </p:txBody>
      </p:sp>
      <p:sp>
        <p:nvSpPr>
          <p:cNvPr id="7" name="!!DiaTL"/>
          <p:cNvSpPr/>
          <p:nvPr/>
        </p:nvSpPr>
        <p:spPr>
          <a:xfrm rot="2700000">
            <a:off x="4878284" y="2211437"/>
            <a:ext cx="1008662" cy="1008662"/>
          </a:xfrm>
          <a:prstGeom prst="rect">
            <a:avLst/>
          </a:prstGeom>
          <a:solidFill>
            <a:schemeClr val="bg1"/>
          </a:solidFill>
          <a:ln/>
        </p:spPr>
        <p:txBody>
          <a:bodyPr/>
          <a:lstStyle/>
          <a:p>
            <a:endParaRPr lang="en-IN"/>
          </a:p>
        </p:txBody>
      </p:sp>
      <p:sp>
        <p:nvSpPr>
          <p:cNvPr id="8" name="!!DiaTR"/>
          <p:cNvSpPr/>
          <p:nvPr/>
        </p:nvSpPr>
        <p:spPr>
          <a:xfrm rot="2700000">
            <a:off x="6304748" y="2211437"/>
            <a:ext cx="1008662" cy="1008662"/>
          </a:xfrm>
          <a:prstGeom prst="rect">
            <a:avLst/>
          </a:prstGeom>
          <a:solidFill>
            <a:schemeClr val="bg1"/>
          </a:solidFill>
          <a:ln/>
        </p:spPr>
        <p:txBody>
          <a:bodyPr/>
          <a:lstStyle/>
          <a:p>
            <a:endParaRPr lang="en-IN"/>
          </a:p>
        </p:txBody>
      </p:sp>
      <p:sp>
        <p:nvSpPr>
          <p:cNvPr id="9" name="!!DiaBL"/>
          <p:cNvSpPr/>
          <p:nvPr/>
        </p:nvSpPr>
        <p:spPr>
          <a:xfrm rot="2700000">
            <a:off x="4878284" y="3637901"/>
            <a:ext cx="1008662" cy="1008662"/>
          </a:xfrm>
          <a:prstGeom prst="rect">
            <a:avLst/>
          </a:prstGeom>
          <a:solidFill>
            <a:schemeClr val="bg1"/>
          </a:solidFill>
          <a:ln/>
        </p:spPr>
        <p:txBody>
          <a:bodyPr/>
          <a:lstStyle/>
          <a:p>
            <a:endParaRPr lang="en-IN"/>
          </a:p>
        </p:txBody>
      </p:sp>
      <p:sp>
        <p:nvSpPr>
          <p:cNvPr id="10" name="!!DiaBR"/>
          <p:cNvSpPr/>
          <p:nvPr/>
        </p:nvSpPr>
        <p:spPr>
          <a:xfrm rot="2700000">
            <a:off x="6304748" y="3637901"/>
            <a:ext cx="1008662" cy="1008662"/>
          </a:xfrm>
          <a:prstGeom prst="rect">
            <a:avLst/>
          </a:prstGeom>
          <a:solidFill>
            <a:schemeClr val="bg1"/>
          </a:solidFill>
          <a:ln/>
        </p:spPr>
        <p:txBody>
          <a:bodyPr/>
          <a:lstStyle/>
          <a:p>
            <a:endParaRPr lang="en-IN"/>
          </a:p>
        </p:txBody>
      </p:sp>
      <p:sp>
        <p:nvSpPr>
          <p:cNvPr id="11" name="!!DiaRing"/>
          <p:cNvSpPr/>
          <p:nvPr/>
        </p:nvSpPr>
        <p:spPr>
          <a:xfrm rot="2700000">
            <a:off x="5591516" y="2924669"/>
            <a:ext cx="1008662" cy="1008662"/>
          </a:xfrm>
          <a:prstGeom prst="rect">
            <a:avLst/>
          </a:prstGeom>
          <a:solidFill>
            <a:schemeClr val="bg1"/>
          </a:solidFill>
          <a:ln/>
        </p:spPr>
        <p:txBody>
          <a:bodyPr/>
          <a:lstStyle/>
          <a:p>
            <a:endParaRPr lang="en-IN"/>
          </a:p>
        </p:txBody>
      </p:sp>
      <p:sp>
        <p:nvSpPr>
          <p:cNvPr id="12" name="!!DiaCore"/>
          <p:cNvSpPr/>
          <p:nvPr/>
        </p:nvSpPr>
        <p:spPr>
          <a:xfrm rot="2700000">
            <a:off x="5591516" y="2924669"/>
            <a:ext cx="1008662" cy="1008662"/>
          </a:xfrm>
          <a:prstGeom prst="rect">
            <a:avLst/>
          </a:prstGeom>
          <a:solidFill>
            <a:schemeClr val="bg2"/>
          </a:solidFill>
          <a:ln/>
        </p:spPr>
        <p:txBody>
          <a:bodyPr/>
          <a:lstStyle/>
          <a:p>
            <a:endParaRPr lang="en-IN"/>
          </a:p>
        </p:txBody>
      </p:sp>
      <p:sp>
        <p:nvSpPr>
          <p:cNvPr id="13" name="!!Circle"/>
          <p:cNvSpPr/>
          <p:nvPr/>
        </p:nvSpPr>
        <p:spPr>
          <a:xfrm>
            <a:off x="-1828800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4" name="!!PanelTop"/>
          <p:cNvSpPr/>
          <p:nvPr/>
        </p:nvSpPr>
        <p:spPr>
          <a:xfrm>
            <a:off x="13258800" y="0"/>
            <a:ext cx="5577840" cy="914400"/>
          </a:xfrm>
          <a:prstGeom prst="rect">
            <a:avLst/>
          </a:prstGeom>
          <a:solidFill>
            <a:schemeClr val="accent1"/>
          </a:solidFill>
          <a:ln/>
        </p:spPr>
        <p:txBody>
          <a:bodyPr/>
          <a:lstStyle/>
          <a:p>
            <a:endParaRPr lang="en-IN"/>
          </a:p>
        </p:txBody>
      </p:sp>
      <p:sp>
        <p:nvSpPr>
          <p:cNvPr id="15" name="!!PanelMid"/>
          <p:cNvSpPr/>
          <p:nvPr/>
        </p:nvSpPr>
        <p:spPr>
          <a:xfrm>
            <a:off x="13258800" y="274320"/>
            <a:ext cx="7223760" cy="6400800"/>
          </a:xfrm>
          <a:prstGeom prst="hexagon">
            <a:avLst/>
          </a:prstGeom>
          <a:solidFill>
            <a:schemeClr val="tx2"/>
          </a:solidFill>
          <a:ln/>
        </p:spPr>
        <p:txBody>
          <a:bodyPr/>
          <a:lstStyle/>
          <a:p>
            <a:endParaRPr lang="en-IN"/>
          </a:p>
        </p:txBody>
      </p:sp>
      <p:sp>
        <p:nvSpPr>
          <p:cNvPr id="16"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7" name="!!Tank"/>
          <p:cNvSpPr/>
          <p:nvPr/>
        </p:nvSpPr>
        <p:spPr>
          <a:xfrm>
            <a:off x="5775808" y="3383280"/>
            <a:ext cx="640080" cy="434340"/>
          </a:xfrm>
          <a:prstGeom prst="rect">
            <a:avLst/>
          </a:prstGeom>
          <a:ln w="22225">
            <a:solidFill>
              <a:schemeClr val="bg1"/>
            </a:solidFill>
            <a:prstDash val="solid"/>
          </a:ln>
        </p:spPr>
        <p:txBody>
          <a:bodyPr/>
          <a:lstStyle/>
          <a:p>
            <a:endParaRPr lang="en-IN"/>
          </a:p>
        </p:txBody>
      </p:sp>
      <p:sp>
        <p:nvSpPr>
          <p:cNvPr id="18" name="!!Lid"/>
          <p:cNvSpPr/>
          <p:nvPr/>
        </p:nvSpPr>
        <p:spPr>
          <a:xfrm>
            <a:off x="5730088" y="3383280"/>
            <a:ext cx="731520" cy="36576"/>
          </a:xfrm>
          <a:prstGeom prst="rect">
            <a:avLst/>
          </a:prstGeom>
          <a:solidFill>
            <a:schemeClr val="bg1"/>
          </a:solidFill>
          <a:ln/>
        </p:spPr>
        <p:txBody>
          <a:bodyPr/>
          <a:lstStyle/>
          <a:p>
            <a:endParaRPr lang="en-IN"/>
          </a:p>
        </p:txBody>
      </p:sp>
      <p:sp>
        <p:nvSpPr>
          <p:cNvPr id="19" name="!!Bush0"/>
          <p:cNvSpPr/>
          <p:nvPr/>
        </p:nvSpPr>
        <p:spPr>
          <a:xfrm>
            <a:off x="5867248" y="3223260"/>
            <a:ext cx="45720" cy="160020"/>
          </a:xfrm>
          <a:prstGeom prst="rect">
            <a:avLst/>
          </a:prstGeom>
          <a:ln w="19050">
            <a:solidFill>
              <a:schemeClr val="bg1"/>
            </a:solidFill>
            <a:prstDash val="solid"/>
          </a:ln>
        </p:spPr>
        <p:txBody>
          <a:bodyPr/>
          <a:lstStyle/>
          <a:p>
            <a:endParaRPr lang="en-IN"/>
          </a:p>
        </p:txBody>
      </p:sp>
      <p:sp>
        <p:nvSpPr>
          <p:cNvPr id="20" name="!!BushCap0"/>
          <p:cNvSpPr/>
          <p:nvPr/>
        </p:nvSpPr>
        <p:spPr>
          <a:xfrm>
            <a:off x="5844388" y="3186684"/>
            <a:ext cx="91440" cy="45720"/>
          </a:xfrm>
          <a:prstGeom prst="rect">
            <a:avLst/>
          </a:prstGeom>
          <a:solidFill>
            <a:schemeClr val="bg1"/>
          </a:solidFill>
          <a:ln/>
        </p:spPr>
        <p:txBody>
          <a:bodyPr/>
          <a:lstStyle/>
          <a:p>
            <a:endParaRPr lang="en-IN"/>
          </a:p>
        </p:txBody>
      </p:sp>
      <p:sp>
        <p:nvSpPr>
          <p:cNvPr id="21" name="!!Bush1"/>
          <p:cNvSpPr/>
          <p:nvPr/>
        </p:nvSpPr>
        <p:spPr>
          <a:xfrm>
            <a:off x="6072988" y="3223260"/>
            <a:ext cx="45720" cy="160020"/>
          </a:xfrm>
          <a:prstGeom prst="rect">
            <a:avLst/>
          </a:prstGeom>
          <a:ln w="19050">
            <a:solidFill>
              <a:schemeClr val="bg1"/>
            </a:solidFill>
            <a:prstDash val="solid"/>
          </a:ln>
        </p:spPr>
        <p:txBody>
          <a:bodyPr/>
          <a:lstStyle/>
          <a:p>
            <a:endParaRPr lang="en-IN"/>
          </a:p>
        </p:txBody>
      </p:sp>
      <p:sp>
        <p:nvSpPr>
          <p:cNvPr id="22" name="!!BushCap1"/>
          <p:cNvSpPr/>
          <p:nvPr/>
        </p:nvSpPr>
        <p:spPr>
          <a:xfrm>
            <a:off x="6050128" y="3186684"/>
            <a:ext cx="91440" cy="45720"/>
          </a:xfrm>
          <a:prstGeom prst="rect">
            <a:avLst/>
          </a:prstGeom>
          <a:solidFill>
            <a:schemeClr val="bg1"/>
          </a:solidFill>
          <a:ln/>
        </p:spPr>
        <p:txBody>
          <a:bodyPr/>
          <a:lstStyle/>
          <a:p>
            <a:endParaRPr lang="en-IN"/>
          </a:p>
        </p:txBody>
      </p:sp>
      <p:sp>
        <p:nvSpPr>
          <p:cNvPr id="23" name="!!Bush2"/>
          <p:cNvSpPr/>
          <p:nvPr/>
        </p:nvSpPr>
        <p:spPr>
          <a:xfrm>
            <a:off x="6278728" y="3223260"/>
            <a:ext cx="45720" cy="160020"/>
          </a:xfrm>
          <a:prstGeom prst="rect">
            <a:avLst/>
          </a:prstGeom>
          <a:ln w="19050">
            <a:solidFill>
              <a:schemeClr val="bg1"/>
            </a:solidFill>
            <a:prstDash val="solid"/>
          </a:ln>
        </p:spPr>
        <p:txBody>
          <a:bodyPr/>
          <a:lstStyle/>
          <a:p>
            <a:endParaRPr lang="en-IN"/>
          </a:p>
        </p:txBody>
      </p:sp>
      <p:sp>
        <p:nvSpPr>
          <p:cNvPr id="24" name="!!BushCap2"/>
          <p:cNvSpPr/>
          <p:nvPr/>
        </p:nvSpPr>
        <p:spPr>
          <a:xfrm>
            <a:off x="6255868" y="3186684"/>
            <a:ext cx="91440" cy="45720"/>
          </a:xfrm>
          <a:prstGeom prst="rect">
            <a:avLst/>
          </a:prstGeom>
          <a:solidFill>
            <a:schemeClr val="bg1"/>
          </a:solidFill>
          <a:ln/>
        </p:spPr>
        <p:txBody>
          <a:bodyPr/>
          <a:lstStyle/>
          <a:p>
            <a:endParaRPr lang="en-IN"/>
          </a:p>
        </p:txBody>
      </p:sp>
      <p:sp>
        <p:nvSpPr>
          <p:cNvPr id="25" name="!!FinL0"/>
          <p:cNvSpPr/>
          <p:nvPr/>
        </p:nvSpPr>
        <p:spPr>
          <a:xfrm>
            <a:off x="5556352" y="3442716"/>
            <a:ext cx="22860" cy="320040"/>
          </a:xfrm>
          <a:prstGeom prst="rect">
            <a:avLst/>
          </a:prstGeom>
          <a:ln w="15875">
            <a:solidFill>
              <a:schemeClr val="bg1"/>
            </a:solidFill>
            <a:prstDash val="solid"/>
          </a:ln>
        </p:spPr>
        <p:txBody>
          <a:bodyPr/>
          <a:lstStyle/>
          <a:p>
            <a:endParaRPr lang="en-IN"/>
          </a:p>
        </p:txBody>
      </p:sp>
      <p:sp>
        <p:nvSpPr>
          <p:cNvPr id="26" name="!!FinR0"/>
          <p:cNvSpPr/>
          <p:nvPr/>
        </p:nvSpPr>
        <p:spPr>
          <a:xfrm>
            <a:off x="6438748" y="3442716"/>
            <a:ext cx="22860" cy="320040"/>
          </a:xfrm>
          <a:prstGeom prst="rect">
            <a:avLst/>
          </a:prstGeom>
          <a:ln w="15875">
            <a:solidFill>
              <a:schemeClr val="bg1"/>
            </a:solidFill>
            <a:prstDash val="solid"/>
          </a:ln>
        </p:spPr>
        <p:txBody>
          <a:bodyPr/>
          <a:lstStyle/>
          <a:p>
            <a:endParaRPr lang="en-IN"/>
          </a:p>
        </p:txBody>
      </p:sp>
      <p:sp>
        <p:nvSpPr>
          <p:cNvPr id="27" name="!!FinL1"/>
          <p:cNvSpPr/>
          <p:nvPr/>
        </p:nvSpPr>
        <p:spPr>
          <a:xfrm>
            <a:off x="5606644" y="3442716"/>
            <a:ext cx="22860" cy="320040"/>
          </a:xfrm>
          <a:prstGeom prst="rect">
            <a:avLst/>
          </a:prstGeom>
          <a:ln w="15875">
            <a:solidFill>
              <a:schemeClr val="bg1"/>
            </a:solidFill>
            <a:prstDash val="solid"/>
          </a:ln>
        </p:spPr>
        <p:txBody>
          <a:bodyPr/>
          <a:lstStyle/>
          <a:p>
            <a:endParaRPr lang="en-IN"/>
          </a:p>
        </p:txBody>
      </p:sp>
      <p:sp>
        <p:nvSpPr>
          <p:cNvPr id="28" name="!!FinR1"/>
          <p:cNvSpPr/>
          <p:nvPr/>
        </p:nvSpPr>
        <p:spPr>
          <a:xfrm>
            <a:off x="6489040" y="3442716"/>
            <a:ext cx="22860" cy="320040"/>
          </a:xfrm>
          <a:prstGeom prst="rect">
            <a:avLst/>
          </a:prstGeom>
          <a:ln w="15875">
            <a:solidFill>
              <a:schemeClr val="bg1"/>
            </a:solidFill>
            <a:prstDash val="solid"/>
          </a:ln>
        </p:spPr>
        <p:txBody>
          <a:bodyPr/>
          <a:lstStyle/>
          <a:p>
            <a:endParaRPr lang="en-IN"/>
          </a:p>
        </p:txBody>
      </p:sp>
      <p:sp>
        <p:nvSpPr>
          <p:cNvPr id="29" name="!!FinL2"/>
          <p:cNvSpPr/>
          <p:nvPr/>
        </p:nvSpPr>
        <p:spPr>
          <a:xfrm>
            <a:off x="5656936" y="3442716"/>
            <a:ext cx="22860" cy="320040"/>
          </a:xfrm>
          <a:prstGeom prst="rect">
            <a:avLst/>
          </a:prstGeom>
          <a:ln w="15875">
            <a:solidFill>
              <a:schemeClr val="bg1"/>
            </a:solidFill>
            <a:prstDash val="solid"/>
          </a:ln>
        </p:spPr>
        <p:txBody>
          <a:bodyPr/>
          <a:lstStyle/>
          <a:p>
            <a:endParaRPr lang="en-IN"/>
          </a:p>
        </p:txBody>
      </p:sp>
      <p:sp>
        <p:nvSpPr>
          <p:cNvPr id="30" name="!!FinR2"/>
          <p:cNvSpPr/>
          <p:nvPr/>
        </p:nvSpPr>
        <p:spPr>
          <a:xfrm>
            <a:off x="6539332" y="3442716"/>
            <a:ext cx="22860" cy="320040"/>
          </a:xfrm>
          <a:prstGeom prst="rect">
            <a:avLst/>
          </a:prstGeom>
          <a:ln w="15875">
            <a:solidFill>
              <a:schemeClr val="bg1"/>
            </a:solidFill>
            <a:prstDash val="solid"/>
          </a:ln>
        </p:spPr>
        <p:txBody>
          <a:bodyPr/>
          <a:lstStyle/>
          <a:p>
            <a:endParaRPr lang="en-IN"/>
          </a:p>
        </p:txBody>
      </p:sp>
      <p:sp>
        <p:nvSpPr>
          <p:cNvPr id="31" name="!!FinL3"/>
          <p:cNvSpPr/>
          <p:nvPr/>
        </p:nvSpPr>
        <p:spPr>
          <a:xfrm>
            <a:off x="5707228" y="3442716"/>
            <a:ext cx="22860" cy="320040"/>
          </a:xfrm>
          <a:prstGeom prst="rect">
            <a:avLst/>
          </a:prstGeom>
          <a:ln w="15875">
            <a:solidFill>
              <a:schemeClr val="bg1"/>
            </a:solidFill>
            <a:prstDash val="solid"/>
          </a:ln>
        </p:spPr>
        <p:txBody>
          <a:bodyPr/>
          <a:lstStyle/>
          <a:p>
            <a:endParaRPr lang="en-IN"/>
          </a:p>
        </p:txBody>
      </p:sp>
      <p:sp>
        <p:nvSpPr>
          <p:cNvPr id="32" name="!!FinR3"/>
          <p:cNvSpPr/>
          <p:nvPr/>
        </p:nvSpPr>
        <p:spPr>
          <a:xfrm>
            <a:off x="6589624" y="3442716"/>
            <a:ext cx="22860" cy="320040"/>
          </a:xfrm>
          <a:prstGeom prst="rect">
            <a:avLst/>
          </a:prstGeom>
          <a:ln w="15875">
            <a:solidFill>
              <a:schemeClr val="bg1"/>
            </a:solidFill>
            <a:prstDash val="solid"/>
          </a:ln>
        </p:spPr>
        <p:txBody>
          <a:bodyPr/>
          <a:lstStyle/>
          <a:p>
            <a:endParaRPr lang="en-IN"/>
          </a:p>
        </p:txBody>
      </p:sp>
      <p:sp>
        <p:nvSpPr>
          <p:cNvPr id="33" name="!!Item0"/>
          <p:cNvSpPr txBox="1"/>
          <p:nvPr/>
        </p:nvSpPr>
        <p:spPr>
          <a:xfrm>
            <a:off x="-4572000" y="594360"/>
            <a:ext cx="2194560" cy="548640"/>
          </a:xfrm>
          <a:prstGeom prst="rect">
            <a:avLst/>
          </a:prstGeom>
          <a:noFill/>
          <a:ln/>
        </p:spPr>
        <p:txBody>
          <a:bodyPr wrap="none" lIns="0" tIns="0" rIns="0" bIns="0" rtlCol="0" anchor="ctr"/>
          <a:lstStyle/>
          <a:p>
            <a:pPr marL="0" indent="0">
              <a:buNone/>
            </a:pPr>
            <a:r>
              <a:rPr lang="en-US" sz="2800" dirty="0">
                <a:solidFill>
                  <a:schemeClr val="bg1"/>
                </a:solidFill>
              </a:rPr>
              <a:t>Incident</a:t>
            </a:r>
            <a:endParaRPr lang="en-US" sz="2800" dirty="0"/>
          </a:p>
        </p:txBody>
      </p:sp>
      <p:sp>
        <p:nvSpPr>
          <p:cNvPr id="34" name="!!Item1"/>
          <p:cNvSpPr txBox="1"/>
          <p:nvPr/>
        </p:nvSpPr>
        <p:spPr>
          <a:xfrm>
            <a:off x="-4572000" y="1325880"/>
            <a:ext cx="2194560" cy="548640"/>
          </a:xfrm>
          <a:prstGeom prst="rect">
            <a:avLst/>
          </a:prstGeom>
          <a:noFill/>
          <a:ln/>
        </p:spPr>
        <p:txBody>
          <a:bodyPr wrap="none" lIns="0" tIns="0" rIns="0" bIns="0" rtlCol="0" anchor="ctr"/>
          <a:lstStyle/>
          <a:p>
            <a:pPr marL="0" indent="0">
              <a:buNone/>
            </a:pPr>
            <a:r>
              <a:rPr lang="en-US" sz="2800" dirty="0">
                <a:solidFill>
                  <a:schemeClr val="bg1"/>
                </a:solidFill>
              </a:rPr>
              <a:t>Problem</a:t>
            </a:r>
            <a:endParaRPr lang="en-US" sz="2800" dirty="0"/>
          </a:p>
        </p:txBody>
      </p:sp>
      <p:sp>
        <p:nvSpPr>
          <p:cNvPr id="35" name="!!Item2"/>
          <p:cNvSpPr txBox="1"/>
          <p:nvPr/>
        </p:nvSpPr>
        <p:spPr>
          <a:xfrm>
            <a:off x="-4572000" y="2057400"/>
            <a:ext cx="2194560" cy="548640"/>
          </a:xfrm>
          <a:prstGeom prst="rect">
            <a:avLst/>
          </a:prstGeom>
          <a:noFill/>
          <a:ln/>
        </p:spPr>
        <p:txBody>
          <a:bodyPr wrap="none" lIns="0" tIns="0" rIns="0" bIns="0" rtlCol="0" anchor="ctr"/>
          <a:lstStyle/>
          <a:p>
            <a:pPr marL="0" indent="0">
              <a:buNone/>
            </a:pPr>
            <a:r>
              <a:rPr lang="en-US" sz="2800" dirty="0">
                <a:solidFill>
                  <a:schemeClr val="bg1"/>
                </a:solidFill>
              </a:rPr>
              <a:t>Twin</a:t>
            </a:r>
            <a:endParaRPr lang="en-US" sz="2800" dirty="0"/>
          </a:p>
        </p:txBody>
      </p:sp>
      <p:sp>
        <p:nvSpPr>
          <p:cNvPr id="36" name="!!Item3"/>
          <p:cNvSpPr txBox="1"/>
          <p:nvPr/>
        </p:nvSpPr>
        <p:spPr>
          <a:xfrm>
            <a:off x="-4572000" y="2788920"/>
            <a:ext cx="2194560" cy="548640"/>
          </a:xfrm>
          <a:prstGeom prst="rect">
            <a:avLst/>
          </a:prstGeom>
          <a:noFill/>
          <a:ln/>
        </p:spPr>
        <p:txBody>
          <a:bodyPr wrap="none" lIns="0" tIns="0" rIns="0" bIns="0" rtlCol="0" anchor="ctr"/>
          <a:lstStyle/>
          <a:p>
            <a:pPr marL="0" indent="0">
              <a:buNone/>
            </a:pPr>
            <a:r>
              <a:rPr lang="en-US" sz="2800" dirty="0">
                <a:solidFill>
                  <a:schemeClr val="bg1"/>
                </a:solidFill>
              </a:rPr>
              <a:t>Cost</a:t>
            </a:r>
            <a:endParaRPr lang="en-US" sz="2800" dirty="0"/>
          </a:p>
        </p:txBody>
      </p:sp>
      <p:sp>
        <p:nvSpPr>
          <p:cNvPr id="37" name="!!Item4"/>
          <p:cNvSpPr txBox="1"/>
          <p:nvPr/>
        </p:nvSpPr>
        <p:spPr>
          <a:xfrm>
            <a:off x="-4572000" y="3520440"/>
            <a:ext cx="2194560" cy="548640"/>
          </a:xfrm>
          <a:prstGeom prst="rect">
            <a:avLst/>
          </a:prstGeom>
          <a:noFill/>
          <a:ln/>
        </p:spPr>
        <p:txBody>
          <a:bodyPr wrap="none" lIns="0" tIns="0" rIns="0" bIns="0" rtlCol="0" anchor="ctr"/>
          <a:lstStyle/>
          <a:p>
            <a:pPr marL="0" indent="0">
              <a:buNone/>
            </a:pPr>
            <a:r>
              <a:rPr lang="en-US" sz="2800" dirty="0">
                <a:solidFill>
                  <a:schemeClr val="bg1"/>
                </a:solidFill>
              </a:rPr>
              <a:t>Bench</a:t>
            </a:r>
            <a:endParaRPr lang="en-US" sz="2800" dirty="0"/>
          </a:p>
        </p:txBody>
      </p:sp>
      <p:sp>
        <p:nvSpPr>
          <p:cNvPr id="38" name="!!Item5"/>
          <p:cNvSpPr txBox="1"/>
          <p:nvPr/>
        </p:nvSpPr>
        <p:spPr>
          <a:xfrm>
            <a:off x="-4572000" y="4251960"/>
            <a:ext cx="2194560" cy="548640"/>
          </a:xfrm>
          <a:prstGeom prst="rect">
            <a:avLst/>
          </a:prstGeom>
          <a:noFill/>
          <a:ln/>
        </p:spPr>
        <p:txBody>
          <a:bodyPr wrap="none" lIns="0" tIns="0" rIns="0" bIns="0" rtlCol="0" anchor="ctr"/>
          <a:lstStyle/>
          <a:p>
            <a:pPr marL="0" indent="0">
              <a:buNone/>
            </a:pPr>
            <a:r>
              <a:rPr lang="en-US" sz="2800" dirty="0">
                <a:solidFill>
                  <a:schemeClr val="bg1"/>
                </a:solidFill>
              </a:rPr>
              <a:t>Job</a:t>
            </a:r>
            <a:endParaRPr lang="en-US" sz="2800" dirty="0"/>
          </a:p>
        </p:txBody>
      </p:sp>
      <p:sp>
        <p:nvSpPr>
          <p:cNvPr id="39" name="!!Item6"/>
          <p:cNvSpPr txBox="1"/>
          <p:nvPr/>
        </p:nvSpPr>
        <p:spPr>
          <a:xfrm>
            <a:off x="-4572000" y="4983480"/>
            <a:ext cx="2194560" cy="548640"/>
          </a:xfrm>
          <a:prstGeom prst="rect">
            <a:avLst/>
          </a:prstGeom>
          <a:noFill/>
          <a:ln/>
        </p:spPr>
        <p:txBody>
          <a:bodyPr wrap="none" lIns="0" tIns="0" rIns="0" bIns="0" rtlCol="0" anchor="ctr"/>
          <a:lstStyle/>
          <a:p>
            <a:pPr marL="0" indent="0">
              <a:buNone/>
            </a:pPr>
            <a:r>
              <a:rPr lang="en-US" sz="2800" dirty="0">
                <a:solidFill>
                  <a:schemeClr val="bg1"/>
                </a:solidFill>
              </a:rPr>
              <a:t>Next</a:t>
            </a:r>
            <a:endParaRPr lang="en-US" sz="2800" dirty="0"/>
          </a:p>
        </p:txBody>
      </p:sp>
      <p:sp>
        <p:nvSpPr>
          <p:cNvPr id="40" name="!!Item7"/>
          <p:cNvSpPr txBox="1"/>
          <p:nvPr/>
        </p:nvSpPr>
        <p:spPr>
          <a:xfrm>
            <a:off x="-4572000" y="5715000"/>
            <a:ext cx="2194560" cy="548640"/>
          </a:xfrm>
          <a:prstGeom prst="rect">
            <a:avLst/>
          </a:prstGeom>
          <a:noFill/>
          <a:ln/>
        </p:spPr>
        <p:txBody>
          <a:bodyPr wrap="none" lIns="0" tIns="0" rIns="0" bIns="0" rtlCol="0" anchor="ctr"/>
          <a:lstStyle/>
          <a:p>
            <a:pPr marL="0" indent="0">
              <a:buNone/>
            </a:pPr>
            <a:r>
              <a:rPr lang="en-US" sz="2800" dirty="0">
                <a:solidFill>
                  <a:schemeClr val="bg1"/>
                </a:solidFill>
              </a:rPr>
              <a:t>Close</a:t>
            </a:r>
            <a:endParaRPr lang="en-US" sz="2800" dirty="0"/>
          </a:p>
        </p:txBody>
      </p:sp>
      <p:sp>
        <p:nvSpPr>
          <p:cNvPr id="41" name="!!Hit0">
            <a:hlinkClick r:id="rId3" action="ppaction://hlinksldjump" tooltip="Go to Incident"/>
          </p:cNvPr>
          <p:cNvSpPr/>
          <p:nvPr/>
        </p:nvSpPr>
        <p:spPr>
          <a:xfrm>
            <a:off x="-4572000" y="594360"/>
            <a:ext cx="2194560" cy="548640"/>
          </a:xfrm>
          <a:prstGeom prst="rect">
            <a:avLst/>
          </a:prstGeom>
          <a:solidFill>
            <a:schemeClr val="tx1">
              <a:alpha val="0"/>
            </a:schemeClr>
          </a:solidFill>
          <a:ln/>
        </p:spPr>
        <p:txBody>
          <a:bodyPr/>
          <a:lstStyle/>
          <a:p>
            <a:endParaRPr lang="en-IN"/>
          </a:p>
        </p:txBody>
      </p:sp>
      <p:sp>
        <p:nvSpPr>
          <p:cNvPr id="42" name="!!Hit1">
            <a:hlinkClick r:id="rId4" action="ppaction://hlinksldjump" tooltip="Go to Problem"/>
          </p:cNvPr>
          <p:cNvSpPr/>
          <p:nvPr/>
        </p:nvSpPr>
        <p:spPr>
          <a:xfrm>
            <a:off x="-4572000" y="1325880"/>
            <a:ext cx="2194560" cy="548640"/>
          </a:xfrm>
          <a:prstGeom prst="rect">
            <a:avLst/>
          </a:prstGeom>
          <a:solidFill>
            <a:schemeClr val="tx1">
              <a:alpha val="0"/>
            </a:schemeClr>
          </a:solidFill>
          <a:ln/>
        </p:spPr>
        <p:txBody>
          <a:bodyPr/>
          <a:lstStyle/>
          <a:p>
            <a:endParaRPr lang="en-IN"/>
          </a:p>
        </p:txBody>
      </p:sp>
      <p:sp>
        <p:nvSpPr>
          <p:cNvPr id="43" name="!!Hit2">
            <a:hlinkClick r:id="rId5" action="ppaction://hlinksldjump" tooltip="Go to Twin"/>
          </p:cNvPr>
          <p:cNvSpPr/>
          <p:nvPr/>
        </p:nvSpPr>
        <p:spPr>
          <a:xfrm>
            <a:off x="-4572000" y="2057400"/>
            <a:ext cx="2194560" cy="548640"/>
          </a:xfrm>
          <a:prstGeom prst="rect">
            <a:avLst/>
          </a:prstGeom>
          <a:solidFill>
            <a:schemeClr val="tx1">
              <a:alpha val="0"/>
            </a:schemeClr>
          </a:solidFill>
          <a:ln/>
        </p:spPr>
        <p:txBody>
          <a:bodyPr/>
          <a:lstStyle/>
          <a:p>
            <a:endParaRPr lang="en-IN"/>
          </a:p>
        </p:txBody>
      </p:sp>
      <p:sp>
        <p:nvSpPr>
          <p:cNvPr id="44" name="!!Hit3">
            <a:hlinkClick r:id="rId6" action="ppaction://hlinksldjump" tooltip="Go to Cost"/>
          </p:cNvPr>
          <p:cNvSpPr/>
          <p:nvPr/>
        </p:nvSpPr>
        <p:spPr>
          <a:xfrm>
            <a:off x="-4572000" y="2788920"/>
            <a:ext cx="2194560" cy="548640"/>
          </a:xfrm>
          <a:prstGeom prst="rect">
            <a:avLst/>
          </a:prstGeom>
          <a:solidFill>
            <a:schemeClr val="tx1">
              <a:alpha val="0"/>
            </a:schemeClr>
          </a:solidFill>
          <a:ln/>
        </p:spPr>
        <p:txBody>
          <a:bodyPr/>
          <a:lstStyle/>
          <a:p>
            <a:endParaRPr lang="en-IN"/>
          </a:p>
        </p:txBody>
      </p:sp>
      <p:sp>
        <p:nvSpPr>
          <p:cNvPr id="45" name="!!Hit4">
            <a:hlinkClick r:id="rId7" action="ppaction://hlinksldjump" tooltip="Go to Bench"/>
          </p:cNvPr>
          <p:cNvSpPr/>
          <p:nvPr/>
        </p:nvSpPr>
        <p:spPr>
          <a:xfrm>
            <a:off x="-4572000" y="3520440"/>
            <a:ext cx="2194560" cy="548640"/>
          </a:xfrm>
          <a:prstGeom prst="rect">
            <a:avLst/>
          </a:prstGeom>
          <a:solidFill>
            <a:schemeClr val="tx1">
              <a:alpha val="0"/>
            </a:schemeClr>
          </a:solidFill>
          <a:ln/>
        </p:spPr>
        <p:txBody>
          <a:bodyPr/>
          <a:lstStyle/>
          <a:p>
            <a:endParaRPr lang="en-IN"/>
          </a:p>
        </p:txBody>
      </p:sp>
      <p:sp>
        <p:nvSpPr>
          <p:cNvPr id="46" name="!!Hit5">
            <a:hlinkClick r:id="rId8" action="ppaction://hlinksldjump" tooltip="Go to Job"/>
          </p:cNvPr>
          <p:cNvSpPr/>
          <p:nvPr/>
        </p:nvSpPr>
        <p:spPr>
          <a:xfrm>
            <a:off x="-4572000" y="4251960"/>
            <a:ext cx="2194560" cy="548640"/>
          </a:xfrm>
          <a:prstGeom prst="rect">
            <a:avLst/>
          </a:prstGeom>
          <a:solidFill>
            <a:schemeClr val="tx1">
              <a:alpha val="0"/>
            </a:schemeClr>
          </a:solidFill>
          <a:ln/>
        </p:spPr>
        <p:txBody>
          <a:bodyPr/>
          <a:lstStyle/>
          <a:p>
            <a:endParaRPr lang="en-IN"/>
          </a:p>
        </p:txBody>
      </p:sp>
      <p:sp>
        <p:nvSpPr>
          <p:cNvPr id="47" name="!!Hit6">
            <a:hlinkClick r:id="rId9" action="ppaction://hlinksldjump" tooltip="Go to Next"/>
          </p:cNvPr>
          <p:cNvSpPr/>
          <p:nvPr/>
        </p:nvSpPr>
        <p:spPr>
          <a:xfrm>
            <a:off x="-4572000" y="4983480"/>
            <a:ext cx="2194560" cy="548640"/>
          </a:xfrm>
          <a:prstGeom prst="rect">
            <a:avLst/>
          </a:prstGeom>
          <a:solidFill>
            <a:schemeClr val="tx1">
              <a:alpha val="0"/>
            </a:schemeClr>
          </a:solidFill>
          <a:ln/>
        </p:spPr>
        <p:txBody>
          <a:bodyPr/>
          <a:lstStyle/>
          <a:p>
            <a:endParaRPr lang="en-IN"/>
          </a:p>
        </p:txBody>
      </p:sp>
      <p:sp>
        <p:nvSpPr>
          <p:cNvPr id="48" name="!!Hit7">
            <a:hlinkClick r:id="rId10" action="ppaction://hlinksldjump" tooltip="Go to Close"/>
          </p:cNvPr>
          <p:cNvSpPr/>
          <p:nvPr/>
        </p:nvSpPr>
        <p:spPr>
          <a:xfrm>
            <a:off x="-4572000" y="5715000"/>
            <a:ext cx="2194560" cy="548640"/>
          </a:xfrm>
          <a:prstGeom prst="rect">
            <a:avLst/>
          </a:prstGeom>
          <a:solidFill>
            <a:schemeClr val="tx1">
              <a:alpha val="0"/>
            </a:schemeClr>
          </a:solidFill>
          <a:ln/>
        </p:spPr>
        <p:txBody>
          <a:bodyPr/>
          <a:lstStyle/>
          <a:p>
            <a:endParaRPr lang="en-IN"/>
          </a:p>
        </p:txBody>
      </p:sp>
      <p:sp>
        <p:nvSpPr>
          <p:cNvPr id="49" name="!!Marker"/>
          <p:cNvSpPr/>
          <p:nvPr/>
        </p:nvSpPr>
        <p:spPr>
          <a:xfrm rot="5400000">
            <a:off x="-914400" y="3291840"/>
            <a:ext cx="274320" cy="274320"/>
          </a:xfrm>
          <a:prstGeom prst="triangle">
            <a:avLst/>
          </a:prstGeom>
          <a:solidFill>
            <a:schemeClr val="bg1"/>
          </a:solidFill>
          <a:ln/>
        </p:spPr>
        <p:txBody>
          <a:bodyPr/>
          <a:lstStyle/>
          <a:p>
            <a:endParaRPr lang="en-IN"/>
          </a:p>
        </p:txBody>
      </p:sp>
      <p:sp>
        <p:nvSpPr>
          <p:cNvPr id="50" name="!!PitchTitle"/>
          <p:cNvSpPr txBox="1"/>
          <p:nvPr/>
        </p:nvSpPr>
        <p:spPr>
          <a:xfrm>
            <a:off x="13898880" y="1691640"/>
            <a:ext cx="5120640" cy="1737360"/>
          </a:xfrm>
          <a:prstGeom prst="rect">
            <a:avLst/>
          </a:prstGeom>
          <a:noFill/>
          <a:ln/>
        </p:spPr>
        <p:txBody>
          <a:bodyPr wrap="square" lIns="0" tIns="0" rIns="0" bIns="0" rtlCol="0" anchor="t"/>
          <a:lstStyle/>
          <a:p>
            <a:pPr marL="0" indent="0">
              <a:buNone/>
            </a:pPr>
            <a:r>
              <a:rPr lang="en-US" sz="5200" b="1" dirty="0">
                <a:solidFill>
                  <a:schemeClr val="bg1"/>
                </a:solidFill>
              </a:rPr>
              <a:t>NEURATWIN</a:t>
            </a:r>
            <a:endParaRPr lang="en-US" sz="5200" dirty="0"/>
          </a:p>
          <a:p>
            <a:pPr marL="0" indent="0">
              <a:buNone/>
            </a:pPr>
            <a:r>
              <a:rPr lang="en-US" sz="5200" b="1" dirty="0">
                <a:solidFill>
                  <a:schemeClr val="bg1"/>
                </a:solidFill>
              </a:rPr>
              <a:t>HALO</a:t>
            </a:r>
            <a:endParaRPr lang="en-US" sz="5200" dirty="0"/>
          </a:p>
        </p:txBody>
      </p:sp>
      <p:sp>
        <p:nvSpPr>
          <p:cNvPr id="51" name="!!Eyebrow"/>
          <p:cNvSpPr txBox="1"/>
          <p:nvPr/>
        </p:nvSpPr>
        <p:spPr>
          <a:xfrm>
            <a:off x="13898880" y="1280160"/>
            <a:ext cx="5029200" cy="320040"/>
          </a:xfrm>
          <a:prstGeom prst="rect">
            <a:avLst/>
          </a:prstGeom>
          <a:noFill/>
          <a:ln/>
        </p:spPr>
        <p:txBody>
          <a:bodyPr wrap="square" lIns="0" tIns="0" rIns="0" bIns="0" rtlCol="0" anchor="t"/>
          <a:lstStyle/>
          <a:p>
            <a:pPr marL="0" indent="0">
              <a:buNone/>
            </a:pPr>
            <a:r>
              <a:rPr lang="en-US" sz="2000" b="1" kern="0" spc="600" dirty="0">
                <a:solidFill>
                  <a:schemeClr val="accent5"/>
                </a:solidFill>
              </a:rPr>
              <a:t>NEURA RANGERS</a:t>
            </a:r>
            <a:endParaRPr lang="en-US" sz="2000" dirty="0"/>
          </a:p>
        </p:txBody>
      </p:sp>
      <p:sp>
        <p:nvSpPr>
          <p:cNvPr id="52" name="!!PitchBody"/>
          <p:cNvSpPr txBox="1"/>
          <p:nvPr/>
        </p:nvSpPr>
        <p:spPr>
          <a:xfrm>
            <a:off x="13898880" y="3474720"/>
            <a:ext cx="5029200" cy="1188720"/>
          </a:xfrm>
          <a:prstGeom prst="rect">
            <a:avLst/>
          </a:prstGeom>
          <a:noFill/>
          <a:ln/>
        </p:spPr>
        <p:txBody>
          <a:bodyPr wrap="square" lIns="0" tIns="0" rIns="0" bIns="0" rtlCol="0" anchor="t"/>
          <a:lstStyle/>
          <a:p>
            <a:pPr marL="0" indent="0">
              <a:buNone/>
            </a:pPr>
            <a:r>
              <a:rPr lang="en-US" sz="2400" dirty="0">
                <a:solidFill>
                  <a:schemeClr val="bg1"/>
                </a:solidFill>
              </a:rPr>
              <a:t>Know which transformer needs attention—and whether the action worked</a:t>
            </a:r>
            <a:endParaRPr lang="en-US" sz="2400" dirty="0"/>
          </a:p>
        </p:txBody>
      </p:sp>
      <p:sp>
        <p:nvSpPr>
          <p:cNvPr id="53" name="!!Support"/>
          <p:cNvSpPr txBox="1"/>
          <p:nvPr/>
        </p:nvSpPr>
        <p:spPr>
          <a:xfrm>
            <a:off x="13898880" y="4800600"/>
            <a:ext cx="5029200" cy="914400"/>
          </a:xfrm>
          <a:prstGeom prst="rect">
            <a:avLst/>
          </a:prstGeom>
          <a:noFill/>
          <a:ln/>
        </p:spPr>
        <p:txBody>
          <a:bodyPr wrap="square" lIns="0" tIns="0" rIns="0" bIns="0" rtlCol="0" anchor="t"/>
          <a:lstStyle/>
          <a:p>
            <a:pPr marL="0" indent="0">
              <a:buNone/>
            </a:pPr>
            <a:r>
              <a:rPr lang="en-US" sz="1800" dirty="0">
                <a:solidFill>
                  <a:schemeClr val="bg2"/>
                </a:solidFill>
              </a:rPr>
              <a:t>A digital twin for distribution transformer condition monitoring and predictive maintenance.</a:t>
            </a:r>
            <a:endParaRPr lang="en-US" sz="1800" dirty="0"/>
          </a:p>
        </p:txBody>
      </p:sp>
      <p:sp>
        <p:nvSpPr>
          <p:cNvPr id="54" name="!!Foot"/>
          <p:cNvSpPr txBox="1"/>
          <p:nvPr/>
        </p:nvSpPr>
        <p:spPr>
          <a:xfrm>
            <a:off x="13898880" y="5943600"/>
            <a:ext cx="5029200" cy="457200"/>
          </a:xfrm>
          <a:prstGeom prst="rect">
            <a:avLst/>
          </a:prstGeom>
          <a:noFill/>
          <a:ln/>
        </p:spPr>
        <p:txBody>
          <a:bodyPr wrap="square" lIns="0" tIns="0" rIns="0" bIns="0" rtlCol="0" anchor="t"/>
          <a:lstStyle/>
          <a:p>
            <a:pPr marL="0" indent="0">
              <a:buNone/>
            </a:pPr>
            <a:r>
              <a:rPr lang="en-US" sz="2000" b="1" dirty="0">
                <a:solidFill>
                  <a:schemeClr val="accent5"/>
                </a:solidFill>
              </a:rPr>
              <a:t>CPRI Track 2 · PowerNext-AI Hackathon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XBar0"/>
          <p:cNvSpPr/>
          <p:nvPr/>
        </p:nvSpPr>
        <p:spPr>
          <a:xfrm rot="2700000">
            <a:off x="1691640" y="2157984"/>
            <a:ext cx="14630400" cy="731520"/>
          </a:xfrm>
          <a:prstGeom prst="rect">
            <a:avLst/>
          </a:prstGeom>
          <a:solidFill>
            <a:schemeClr val="tx1"/>
          </a:solidFill>
          <a:ln/>
        </p:spPr>
        <p:txBody>
          <a:bodyPr/>
          <a:lstStyle/>
          <a:p>
            <a:endParaRPr lang="en-IN"/>
          </a:p>
        </p:txBody>
      </p:sp>
      <p:sp>
        <p:nvSpPr>
          <p:cNvPr id="4" name="!!XBar1"/>
          <p:cNvSpPr/>
          <p:nvPr/>
        </p:nvSpPr>
        <p:spPr>
          <a:xfrm rot="18900000">
            <a:off x="1691640" y="2157984"/>
            <a:ext cx="14630400" cy="731520"/>
          </a:xfrm>
          <a:prstGeom prst="rect">
            <a:avLst/>
          </a:prstGeom>
          <a:solidFill>
            <a:schemeClr val="tx1"/>
          </a:solidFill>
          <a:ln/>
        </p:spPr>
        <p:txBody>
          <a:bodyPr/>
          <a:lstStyle/>
          <a:p>
            <a:endParaRPr lang="en-IN"/>
          </a:p>
        </p:txBody>
      </p:sp>
      <p:sp>
        <p:nvSpPr>
          <p:cNvPr id="5" name="!!DiaL"/>
          <p:cNvSpPr/>
          <p:nvPr/>
        </p:nvSpPr>
        <p:spPr>
          <a:xfrm rot="2700000">
            <a:off x="3065932" y="971956"/>
            <a:ext cx="3103577" cy="3103577"/>
          </a:xfrm>
          <a:prstGeom prst="rect">
            <a:avLst/>
          </a:prstGeom>
          <a:solidFill>
            <a:schemeClr val="tx2"/>
          </a:solidFill>
          <a:ln w="9525">
            <a:solidFill>
              <a:schemeClr val="accent4"/>
            </a:solidFill>
            <a:prstDash val="solid"/>
          </a:ln>
        </p:spPr>
        <p:txBody>
          <a:bodyPr/>
          <a:lstStyle/>
          <a:p>
            <a:endParaRPr lang="en-IN"/>
          </a:p>
        </p:txBody>
      </p:sp>
      <p:sp>
        <p:nvSpPr>
          <p:cNvPr id="6" name="!!DiaR"/>
          <p:cNvSpPr/>
          <p:nvPr/>
        </p:nvSpPr>
        <p:spPr>
          <a:xfrm rot="2700000">
            <a:off x="11844172" y="971956"/>
            <a:ext cx="3103577" cy="3103577"/>
          </a:xfrm>
          <a:prstGeom prst="rect">
            <a:avLst/>
          </a:prstGeom>
          <a:solidFill>
            <a:schemeClr val="tx2"/>
          </a:solidFill>
          <a:ln w="9525">
            <a:solidFill>
              <a:schemeClr val="accent4"/>
            </a:solidFill>
            <a:prstDash val="solid"/>
          </a:ln>
        </p:spPr>
        <p:txBody>
          <a:bodyPr/>
          <a:lstStyle/>
          <a:p>
            <a:endParaRPr lang="en-IN"/>
          </a:p>
        </p:txBody>
      </p:sp>
      <p:sp>
        <p:nvSpPr>
          <p:cNvPr id="7" name="!!DiaTL"/>
          <p:cNvSpPr/>
          <p:nvPr/>
        </p:nvSpPr>
        <p:spPr>
          <a:xfrm rot="2700000">
            <a:off x="5260492" y="-1222604"/>
            <a:ext cx="3103577" cy="3103577"/>
          </a:xfrm>
          <a:prstGeom prst="rect">
            <a:avLst/>
          </a:prstGeom>
          <a:solidFill>
            <a:schemeClr val="tx1"/>
          </a:solidFill>
          <a:ln w="9525">
            <a:solidFill>
              <a:schemeClr val="accent4"/>
            </a:solidFill>
            <a:prstDash val="solid"/>
          </a:ln>
        </p:spPr>
        <p:txBody>
          <a:bodyPr/>
          <a:lstStyle/>
          <a:p>
            <a:endParaRPr lang="en-IN"/>
          </a:p>
        </p:txBody>
      </p:sp>
      <p:sp>
        <p:nvSpPr>
          <p:cNvPr id="8" name="!!DiaTR"/>
          <p:cNvSpPr/>
          <p:nvPr/>
        </p:nvSpPr>
        <p:spPr>
          <a:xfrm rot="2700000">
            <a:off x="9649612" y="-1222604"/>
            <a:ext cx="3103577" cy="3103577"/>
          </a:xfrm>
          <a:prstGeom prst="rect">
            <a:avLst/>
          </a:prstGeom>
          <a:solidFill>
            <a:schemeClr val="tx1"/>
          </a:solidFill>
          <a:ln w="9525">
            <a:solidFill>
              <a:schemeClr val="accent4"/>
            </a:solidFill>
            <a:prstDash val="solid"/>
          </a:ln>
        </p:spPr>
        <p:txBody>
          <a:bodyPr/>
          <a:lstStyle/>
          <a:p>
            <a:endParaRPr lang="en-IN"/>
          </a:p>
        </p:txBody>
      </p:sp>
      <p:sp>
        <p:nvSpPr>
          <p:cNvPr id="9" name="!!DiaBL"/>
          <p:cNvSpPr/>
          <p:nvPr/>
        </p:nvSpPr>
        <p:spPr>
          <a:xfrm rot="2700000">
            <a:off x="5260492" y="3166516"/>
            <a:ext cx="3103577" cy="3103577"/>
          </a:xfrm>
          <a:prstGeom prst="rect">
            <a:avLst/>
          </a:prstGeom>
          <a:solidFill>
            <a:schemeClr val="tx1"/>
          </a:solidFill>
          <a:ln w="9525">
            <a:solidFill>
              <a:schemeClr val="accent4"/>
            </a:solidFill>
            <a:prstDash val="solid"/>
          </a:ln>
        </p:spPr>
        <p:txBody>
          <a:bodyPr/>
          <a:lstStyle/>
          <a:p>
            <a:endParaRPr lang="en-IN"/>
          </a:p>
        </p:txBody>
      </p:sp>
      <p:sp>
        <p:nvSpPr>
          <p:cNvPr id="10" name="!!DiaBR"/>
          <p:cNvSpPr/>
          <p:nvPr/>
        </p:nvSpPr>
        <p:spPr>
          <a:xfrm rot="2700000">
            <a:off x="9649612" y="3166516"/>
            <a:ext cx="3103577" cy="3103577"/>
          </a:xfrm>
          <a:prstGeom prst="rect">
            <a:avLst/>
          </a:prstGeom>
          <a:solidFill>
            <a:schemeClr val="tx1"/>
          </a:solidFill>
          <a:ln w="9525">
            <a:solidFill>
              <a:schemeClr val="accent4"/>
            </a:solidFill>
            <a:prstDash val="solid"/>
          </a:ln>
        </p:spPr>
        <p:txBody>
          <a:bodyPr/>
          <a:lstStyle/>
          <a:p>
            <a:endParaRPr lang="en-IN"/>
          </a:p>
        </p:txBody>
      </p:sp>
      <p:sp>
        <p:nvSpPr>
          <p:cNvPr id="11" name="!!DiaRing"/>
          <p:cNvSpPr/>
          <p:nvPr/>
        </p:nvSpPr>
        <p:spPr>
          <a:xfrm rot="2700000">
            <a:off x="7455052" y="971956"/>
            <a:ext cx="3103577" cy="3103577"/>
          </a:xfrm>
          <a:prstGeom prst="rect">
            <a:avLst/>
          </a:prstGeom>
          <a:solidFill>
            <a:schemeClr val="tx2"/>
          </a:solidFill>
          <a:ln w="9525">
            <a:solidFill>
              <a:schemeClr val="accent4"/>
            </a:solidFill>
            <a:prstDash val="solid"/>
          </a:ln>
        </p:spPr>
        <p:txBody>
          <a:bodyPr/>
          <a:lstStyle/>
          <a:p>
            <a:endParaRPr lang="en-IN"/>
          </a:p>
        </p:txBody>
      </p:sp>
      <p:sp>
        <p:nvSpPr>
          <p:cNvPr id="12" name="!!DiaCore"/>
          <p:cNvSpPr/>
          <p:nvPr/>
        </p:nvSpPr>
        <p:spPr>
          <a:xfrm rot="2700000">
            <a:off x="8166288" y="1683192"/>
            <a:ext cx="1681104" cy="1681104"/>
          </a:xfrm>
          <a:prstGeom prst="rect">
            <a:avLst/>
          </a:prstGeom>
          <a:solidFill>
            <a:schemeClr val="tx1"/>
          </a:solidFill>
          <a:ln/>
        </p:spPr>
        <p:txBody>
          <a:bodyPr/>
          <a:lstStyle/>
          <a:p>
            <a:endParaRPr lang="en-IN"/>
          </a:p>
        </p:txBody>
      </p:sp>
      <p:sp>
        <p:nvSpPr>
          <p:cNvPr id="13" name="!!Circle"/>
          <p:cNvSpPr/>
          <p:nvPr/>
        </p:nvSpPr>
        <p:spPr>
          <a:xfrm>
            <a:off x="-1828800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4" name="!!PanelTop"/>
          <p:cNvSpPr/>
          <p:nvPr/>
        </p:nvSpPr>
        <p:spPr>
          <a:xfrm>
            <a:off x="13258800" y="0"/>
            <a:ext cx="5577840" cy="914400"/>
          </a:xfrm>
          <a:prstGeom prst="rect">
            <a:avLst/>
          </a:prstGeom>
          <a:solidFill>
            <a:schemeClr val="accent1"/>
          </a:solidFill>
          <a:ln/>
        </p:spPr>
        <p:txBody>
          <a:bodyPr/>
          <a:lstStyle/>
          <a:p>
            <a:endParaRPr lang="en-IN"/>
          </a:p>
        </p:txBody>
      </p:sp>
      <p:sp>
        <p:nvSpPr>
          <p:cNvPr id="15" name="!!PanelMid"/>
          <p:cNvSpPr/>
          <p:nvPr/>
        </p:nvSpPr>
        <p:spPr>
          <a:xfrm>
            <a:off x="13258800" y="274320"/>
            <a:ext cx="7223760" cy="6400800"/>
          </a:xfrm>
          <a:prstGeom prst="hexagon">
            <a:avLst/>
          </a:prstGeom>
          <a:solidFill>
            <a:schemeClr val="tx2"/>
          </a:solidFill>
          <a:ln/>
        </p:spPr>
        <p:txBody>
          <a:bodyPr/>
          <a:lstStyle/>
          <a:p>
            <a:endParaRPr lang="en-IN"/>
          </a:p>
        </p:txBody>
      </p:sp>
      <p:sp>
        <p:nvSpPr>
          <p:cNvPr id="16"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7" name="!!Tank"/>
          <p:cNvSpPr/>
          <p:nvPr/>
        </p:nvSpPr>
        <p:spPr>
          <a:xfrm>
            <a:off x="809244" y="690372"/>
            <a:ext cx="576072" cy="390906"/>
          </a:xfrm>
          <a:prstGeom prst="rect">
            <a:avLst/>
          </a:prstGeom>
          <a:ln w="22225">
            <a:solidFill>
              <a:schemeClr val="bg1"/>
            </a:solidFill>
            <a:prstDash val="solid"/>
          </a:ln>
        </p:spPr>
        <p:txBody>
          <a:bodyPr/>
          <a:lstStyle/>
          <a:p>
            <a:endParaRPr lang="en-IN"/>
          </a:p>
        </p:txBody>
      </p:sp>
      <p:sp>
        <p:nvSpPr>
          <p:cNvPr id="18" name="!!Lid"/>
          <p:cNvSpPr/>
          <p:nvPr/>
        </p:nvSpPr>
        <p:spPr>
          <a:xfrm>
            <a:off x="768096" y="690372"/>
            <a:ext cx="658368" cy="32918"/>
          </a:xfrm>
          <a:prstGeom prst="rect">
            <a:avLst/>
          </a:prstGeom>
          <a:solidFill>
            <a:schemeClr val="bg1"/>
          </a:solidFill>
          <a:ln/>
        </p:spPr>
        <p:txBody>
          <a:bodyPr/>
          <a:lstStyle/>
          <a:p>
            <a:endParaRPr lang="en-IN"/>
          </a:p>
        </p:txBody>
      </p:sp>
      <p:sp>
        <p:nvSpPr>
          <p:cNvPr id="19" name="!!Bush0"/>
          <p:cNvSpPr/>
          <p:nvPr/>
        </p:nvSpPr>
        <p:spPr>
          <a:xfrm>
            <a:off x="891540" y="546354"/>
            <a:ext cx="41148" cy="144018"/>
          </a:xfrm>
          <a:prstGeom prst="rect">
            <a:avLst/>
          </a:prstGeom>
          <a:ln w="19050">
            <a:solidFill>
              <a:schemeClr val="bg1"/>
            </a:solidFill>
            <a:prstDash val="solid"/>
          </a:ln>
        </p:spPr>
        <p:txBody>
          <a:bodyPr/>
          <a:lstStyle/>
          <a:p>
            <a:endParaRPr lang="en-IN"/>
          </a:p>
        </p:txBody>
      </p:sp>
      <p:sp>
        <p:nvSpPr>
          <p:cNvPr id="20" name="!!BushCap0"/>
          <p:cNvSpPr/>
          <p:nvPr/>
        </p:nvSpPr>
        <p:spPr>
          <a:xfrm>
            <a:off x="870966" y="513436"/>
            <a:ext cx="82296" cy="41148"/>
          </a:xfrm>
          <a:prstGeom prst="rect">
            <a:avLst/>
          </a:prstGeom>
          <a:solidFill>
            <a:schemeClr val="bg1"/>
          </a:solidFill>
          <a:ln/>
        </p:spPr>
        <p:txBody>
          <a:bodyPr/>
          <a:lstStyle/>
          <a:p>
            <a:endParaRPr lang="en-IN"/>
          </a:p>
        </p:txBody>
      </p:sp>
      <p:sp>
        <p:nvSpPr>
          <p:cNvPr id="21" name="!!Bush1"/>
          <p:cNvSpPr/>
          <p:nvPr/>
        </p:nvSpPr>
        <p:spPr>
          <a:xfrm>
            <a:off x="1076706" y="546354"/>
            <a:ext cx="41148" cy="144018"/>
          </a:xfrm>
          <a:prstGeom prst="rect">
            <a:avLst/>
          </a:prstGeom>
          <a:ln w="19050">
            <a:solidFill>
              <a:schemeClr val="bg1"/>
            </a:solidFill>
            <a:prstDash val="solid"/>
          </a:ln>
        </p:spPr>
        <p:txBody>
          <a:bodyPr/>
          <a:lstStyle/>
          <a:p>
            <a:endParaRPr lang="en-IN"/>
          </a:p>
        </p:txBody>
      </p:sp>
      <p:sp>
        <p:nvSpPr>
          <p:cNvPr id="22" name="!!BushCap1"/>
          <p:cNvSpPr/>
          <p:nvPr/>
        </p:nvSpPr>
        <p:spPr>
          <a:xfrm>
            <a:off x="1056132" y="513436"/>
            <a:ext cx="82296" cy="41148"/>
          </a:xfrm>
          <a:prstGeom prst="rect">
            <a:avLst/>
          </a:prstGeom>
          <a:solidFill>
            <a:schemeClr val="bg1"/>
          </a:solidFill>
          <a:ln/>
        </p:spPr>
        <p:txBody>
          <a:bodyPr/>
          <a:lstStyle/>
          <a:p>
            <a:endParaRPr lang="en-IN"/>
          </a:p>
        </p:txBody>
      </p:sp>
      <p:sp>
        <p:nvSpPr>
          <p:cNvPr id="23" name="!!Bush2"/>
          <p:cNvSpPr/>
          <p:nvPr/>
        </p:nvSpPr>
        <p:spPr>
          <a:xfrm>
            <a:off x="1261872" y="546354"/>
            <a:ext cx="41148" cy="144018"/>
          </a:xfrm>
          <a:prstGeom prst="rect">
            <a:avLst/>
          </a:prstGeom>
          <a:ln w="19050">
            <a:solidFill>
              <a:schemeClr val="bg1"/>
            </a:solidFill>
            <a:prstDash val="solid"/>
          </a:ln>
        </p:spPr>
        <p:txBody>
          <a:bodyPr/>
          <a:lstStyle/>
          <a:p>
            <a:endParaRPr lang="en-IN"/>
          </a:p>
        </p:txBody>
      </p:sp>
      <p:sp>
        <p:nvSpPr>
          <p:cNvPr id="24" name="!!BushCap2"/>
          <p:cNvSpPr/>
          <p:nvPr/>
        </p:nvSpPr>
        <p:spPr>
          <a:xfrm>
            <a:off x="1241298" y="513436"/>
            <a:ext cx="82296" cy="41148"/>
          </a:xfrm>
          <a:prstGeom prst="rect">
            <a:avLst/>
          </a:prstGeom>
          <a:solidFill>
            <a:schemeClr val="bg1"/>
          </a:solidFill>
          <a:ln/>
        </p:spPr>
        <p:txBody>
          <a:bodyPr/>
          <a:lstStyle/>
          <a:p>
            <a:endParaRPr lang="en-IN"/>
          </a:p>
        </p:txBody>
      </p:sp>
      <p:sp>
        <p:nvSpPr>
          <p:cNvPr id="25" name="!!FinL0"/>
          <p:cNvSpPr/>
          <p:nvPr/>
        </p:nvSpPr>
        <p:spPr>
          <a:xfrm>
            <a:off x="611734" y="743864"/>
            <a:ext cx="20574" cy="288036"/>
          </a:xfrm>
          <a:prstGeom prst="rect">
            <a:avLst/>
          </a:prstGeom>
          <a:ln w="15875">
            <a:solidFill>
              <a:schemeClr val="bg1"/>
            </a:solidFill>
            <a:prstDash val="solid"/>
          </a:ln>
        </p:spPr>
        <p:txBody>
          <a:bodyPr/>
          <a:lstStyle/>
          <a:p>
            <a:endParaRPr lang="en-IN"/>
          </a:p>
        </p:txBody>
      </p:sp>
      <p:sp>
        <p:nvSpPr>
          <p:cNvPr id="26" name="!!FinR0"/>
          <p:cNvSpPr/>
          <p:nvPr/>
        </p:nvSpPr>
        <p:spPr>
          <a:xfrm>
            <a:off x="1405890" y="743864"/>
            <a:ext cx="20574" cy="288036"/>
          </a:xfrm>
          <a:prstGeom prst="rect">
            <a:avLst/>
          </a:prstGeom>
          <a:ln w="15875">
            <a:solidFill>
              <a:schemeClr val="bg1"/>
            </a:solidFill>
            <a:prstDash val="solid"/>
          </a:ln>
        </p:spPr>
        <p:txBody>
          <a:bodyPr/>
          <a:lstStyle/>
          <a:p>
            <a:endParaRPr lang="en-IN"/>
          </a:p>
        </p:txBody>
      </p:sp>
      <p:sp>
        <p:nvSpPr>
          <p:cNvPr id="27" name="!!FinL1"/>
          <p:cNvSpPr/>
          <p:nvPr/>
        </p:nvSpPr>
        <p:spPr>
          <a:xfrm>
            <a:off x="656996" y="743864"/>
            <a:ext cx="20574" cy="288036"/>
          </a:xfrm>
          <a:prstGeom prst="rect">
            <a:avLst/>
          </a:prstGeom>
          <a:ln w="15875">
            <a:solidFill>
              <a:schemeClr val="bg1"/>
            </a:solidFill>
            <a:prstDash val="solid"/>
          </a:ln>
        </p:spPr>
        <p:txBody>
          <a:bodyPr/>
          <a:lstStyle/>
          <a:p>
            <a:endParaRPr lang="en-IN"/>
          </a:p>
        </p:txBody>
      </p:sp>
      <p:sp>
        <p:nvSpPr>
          <p:cNvPr id="28" name="!!FinR1"/>
          <p:cNvSpPr/>
          <p:nvPr/>
        </p:nvSpPr>
        <p:spPr>
          <a:xfrm>
            <a:off x="1451153" y="743864"/>
            <a:ext cx="20574" cy="288036"/>
          </a:xfrm>
          <a:prstGeom prst="rect">
            <a:avLst/>
          </a:prstGeom>
          <a:ln w="15875">
            <a:solidFill>
              <a:schemeClr val="bg1"/>
            </a:solidFill>
            <a:prstDash val="solid"/>
          </a:ln>
        </p:spPr>
        <p:txBody>
          <a:bodyPr/>
          <a:lstStyle/>
          <a:p>
            <a:endParaRPr lang="en-IN"/>
          </a:p>
        </p:txBody>
      </p:sp>
      <p:sp>
        <p:nvSpPr>
          <p:cNvPr id="29" name="!!FinL2"/>
          <p:cNvSpPr/>
          <p:nvPr/>
        </p:nvSpPr>
        <p:spPr>
          <a:xfrm>
            <a:off x="702259" y="743864"/>
            <a:ext cx="20574" cy="288036"/>
          </a:xfrm>
          <a:prstGeom prst="rect">
            <a:avLst/>
          </a:prstGeom>
          <a:ln w="15875">
            <a:solidFill>
              <a:schemeClr val="bg1"/>
            </a:solidFill>
            <a:prstDash val="solid"/>
          </a:ln>
        </p:spPr>
        <p:txBody>
          <a:bodyPr/>
          <a:lstStyle/>
          <a:p>
            <a:endParaRPr lang="en-IN"/>
          </a:p>
        </p:txBody>
      </p:sp>
      <p:sp>
        <p:nvSpPr>
          <p:cNvPr id="30" name="!!FinR2"/>
          <p:cNvSpPr/>
          <p:nvPr/>
        </p:nvSpPr>
        <p:spPr>
          <a:xfrm>
            <a:off x="1496416" y="743864"/>
            <a:ext cx="20574" cy="288036"/>
          </a:xfrm>
          <a:prstGeom prst="rect">
            <a:avLst/>
          </a:prstGeom>
          <a:ln w="15875">
            <a:solidFill>
              <a:schemeClr val="bg1"/>
            </a:solidFill>
            <a:prstDash val="solid"/>
          </a:ln>
        </p:spPr>
        <p:txBody>
          <a:bodyPr/>
          <a:lstStyle/>
          <a:p>
            <a:endParaRPr lang="en-IN"/>
          </a:p>
        </p:txBody>
      </p:sp>
      <p:sp>
        <p:nvSpPr>
          <p:cNvPr id="31" name="!!FinL3"/>
          <p:cNvSpPr/>
          <p:nvPr/>
        </p:nvSpPr>
        <p:spPr>
          <a:xfrm>
            <a:off x="747522" y="743864"/>
            <a:ext cx="20574" cy="288036"/>
          </a:xfrm>
          <a:prstGeom prst="rect">
            <a:avLst/>
          </a:prstGeom>
          <a:ln w="15875">
            <a:solidFill>
              <a:schemeClr val="bg1"/>
            </a:solidFill>
            <a:prstDash val="solid"/>
          </a:ln>
        </p:spPr>
        <p:txBody>
          <a:bodyPr/>
          <a:lstStyle/>
          <a:p>
            <a:endParaRPr lang="en-IN"/>
          </a:p>
        </p:txBody>
      </p:sp>
      <p:sp>
        <p:nvSpPr>
          <p:cNvPr id="32" name="!!FinR3"/>
          <p:cNvSpPr/>
          <p:nvPr/>
        </p:nvSpPr>
        <p:spPr>
          <a:xfrm>
            <a:off x="1541678" y="743864"/>
            <a:ext cx="20574" cy="288036"/>
          </a:xfrm>
          <a:prstGeom prst="rect">
            <a:avLst/>
          </a:prstGeom>
          <a:ln w="15875">
            <a:solidFill>
              <a:schemeClr val="bg1"/>
            </a:solidFill>
            <a:prstDash val="solid"/>
          </a:ln>
        </p:spPr>
        <p:txBody>
          <a:bodyPr/>
          <a:lstStyle/>
          <a:p>
            <a:endParaRPr lang="en-IN"/>
          </a:p>
        </p:txBody>
      </p:sp>
      <p:sp>
        <p:nvSpPr>
          <p:cNvPr id="34" name="!!MediaPlay"/>
          <p:cNvSpPr/>
          <p:nvPr/>
        </p:nvSpPr>
        <p:spPr>
          <a:xfrm>
            <a:off x="8641080" y="2157984"/>
            <a:ext cx="731520" cy="731520"/>
          </a:xfrm>
          <a:prstGeom prst="ellipse">
            <a:avLst/>
          </a:prstGeom>
          <a:ln w="22225">
            <a:solidFill>
              <a:schemeClr val="bg1"/>
            </a:solidFill>
            <a:prstDash val="solid"/>
          </a:ln>
        </p:spPr>
        <p:txBody>
          <a:bodyPr/>
          <a:lstStyle/>
          <a:p>
            <a:endParaRPr lang="en-IN"/>
          </a:p>
        </p:txBody>
      </p:sp>
      <p:sp>
        <p:nvSpPr>
          <p:cNvPr id="35" name="!!MediaTri"/>
          <p:cNvSpPr/>
          <p:nvPr/>
        </p:nvSpPr>
        <p:spPr>
          <a:xfrm rot="5400000">
            <a:off x="8915400" y="2404872"/>
            <a:ext cx="237744" cy="237744"/>
          </a:xfrm>
          <a:prstGeom prst="triangle">
            <a:avLst/>
          </a:prstGeom>
          <a:solidFill>
            <a:schemeClr val="bg1"/>
          </a:solidFill>
          <a:ln/>
        </p:spPr>
        <p:txBody>
          <a:bodyPr/>
          <a:lstStyle/>
          <a:p>
            <a:endParaRPr lang="en-IN"/>
          </a:p>
        </p:txBody>
      </p:sp>
      <p:sp>
        <p:nvSpPr>
          <p:cNvPr id="36" name="!!MediaLabel"/>
          <p:cNvSpPr txBox="1"/>
          <p:nvPr/>
        </p:nvSpPr>
        <p:spPr>
          <a:xfrm>
            <a:off x="6492240" y="1143000"/>
            <a:ext cx="5029200" cy="320040"/>
          </a:xfrm>
          <a:prstGeom prst="rect">
            <a:avLst/>
          </a:prstGeom>
          <a:noFill/>
          <a:ln/>
        </p:spPr>
        <p:txBody>
          <a:bodyPr wrap="square" lIns="0" tIns="0" rIns="0" bIns="0" rtlCol="0" anchor="t"/>
          <a:lstStyle/>
          <a:p>
            <a:pPr marL="0" indent="0">
              <a:buNone/>
            </a:pPr>
            <a:endParaRPr lang="en-US" sz="1600" dirty="0"/>
          </a:p>
        </p:txBody>
      </p:sp>
      <p:sp>
        <p:nvSpPr>
          <p:cNvPr id="37" name="!!MediaHint"/>
          <p:cNvSpPr txBox="1"/>
          <p:nvPr/>
        </p:nvSpPr>
        <p:spPr>
          <a:xfrm>
            <a:off x="6492240" y="3630168"/>
            <a:ext cx="5029200" cy="274320"/>
          </a:xfrm>
          <a:prstGeom prst="rect">
            <a:avLst/>
          </a:prstGeom>
          <a:noFill/>
          <a:ln/>
        </p:spPr>
        <p:txBody>
          <a:bodyPr wrap="square" lIns="0" tIns="0" rIns="0" bIns="0" rtlCol="0" anchor="t"/>
          <a:lstStyle/>
          <a:p>
            <a:pPr marL="0" indent="0">
              <a:buNone/>
            </a:pPr>
            <a:endParaRPr lang="en-US" sz="1600" dirty="0"/>
          </a:p>
        </p:txBody>
      </p:sp>
      <p:sp>
        <p:nvSpPr>
          <p:cNvPr id="38" name="!!Item0"/>
          <p:cNvSpPr txBox="1"/>
          <p:nvPr/>
        </p:nvSpPr>
        <p:spPr>
          <a:xfrm>
            <a:off x="-4572000" y="594360"/>
            <a:ext cx="2194560" cy="548640"/>
          </a:xfrm>
          <a:prstGeom prst="rect">
            <a:avLst/>
          </a:prstGeom>
          <a:noFill/>
          <a:ln/>
        </p:spPr>
        <p:txBody>
          <a:bodyPr wrap="none" lIns="0" tIns="0" rIns="0" bIns="0" rtlCol="0" anchor="ctr"/>
          <a:lstStyle/>
          <a:p>
            <a:pPr marL="0" indent="0">
              <a:buNone/>
            </a:pPr>
            <a:r>
              <a:rPr lang="en-US" sz="2800" dirty="0">
                <a:solidFill>
                  <a:schemeClr val="bg1"/>
                </a:solidFill>
              </a:rPr>
              <a:t>Incident</a:t>
            </a:r>
            <a:endParaRPr lang="en-US" sz="2800" dirty="0"/>
          </a:p>
        </p:txBody>
      </p:sp>
      <p:sp>
        <p:nvSpPr>
          <p:cNvPr id="39" name="!!Item1"/>
          <p:cNvSpPr txBox="1"/>
          <p:nvPr/>
        </p:nvSpPr>
        <p:spPr>
          <a:xfrm>
            <a:off x="-4572000" y="1325880"/>
            <a:ext cx="2194560" cy="548640"/>
          </a:xfrm>
          <a:prstGeom prst="rect">
            <a:avLst/>
          </a:prstGeom>
          <a:noFill/>
          <a:ln/>
        </p:spPr>
        <p:txBody>
          <a:bodyPr wrap="none" lIns="0" tIns="0" rIns="0" bIns="0" rtlCol="0" anchor="ctr"/>
          <a:lstStyle/>
          <a:p>
            <a:pPr marL="0" indent="0">
              <a:buNone/>
            </a:pPr>
            <a:r>
              <a:rPr lang="en-US" sz="2800" dirty="0">
                <a:solidFill>
                  <a:schemeClr val="bg1"/>
                </a:solidFill>
              </a:rPr>
              <a:t>Problem</a:t>
            </a:r>
            <a:endParaRPr lang="en-US" sz="2800" dirty="0"/>
          </a:p>
        </p:txBody>
      </p:sp>
      <p:sp>
        <p:nvSpPr>
          <p:cNvPr id="40" name="!!Item2"/>
          <p:cNvSpPr txBox="1"/>
          <p:nvPr/>
        </p:nvSpPr>
        <p:spPr>
          <a:xfrm>
            <a:off x="-4572000" y="2057400"/>
            <a:ext cx="2194560" cy="548640"/>
          </a:xfrm>
          <a:prstGeom prst="rect">
            <a:avLst/>
          </a:prstGeom>
          <a:noFill/>
          <a:ln/>
        </p:spPr>
        <p:txBody>
          <a:bodyPr wrap="none" lIns="0" tIns="0" rIns="0" bIns="0" rtlCol="0" anchor="ctr"/>
          <a:lstStyle/>
          <a:p>
            <a:pPr marL="0" indent="0">
              <a:buNone/>
            </a:pPr>
            <a:r>
              <a:rPr lang="en-US" sz="2800" dirty="0">
                <a:solidFill>
                  <a:schemeClr val="bg1"/>
                </a:solidFill>
              </a:rPr>
              <a:t>Twin</a:t>
            </a:r>
            <a:endParaRPr lang="en-US" sz="2800" dirty="0"/>
          </a:p>
        </p:txBody>
      </p:sp>
      <p:sp>
        <p:nvSpPr>
          <p:cNvPr id="41" name="!!Item3"/>
          <p:cNvSpPr txBox="1"/>
          <p:nvPr/>
        </p:nvSpPr>
        <p:spPr>
          <a:xfrm>
            <a:off x="-4572000" y="2788920"/>
            <a:ext cx="2194560" cy="548640"/>
          </a:xfrm>
          <a:prstGeom prst="rect">
            <a:avLst/>
          </a:prstGeom>
          <a:noFill/>
          <a:ln/>
        </p:spPr>
        <p:txBody>
          <a:bodyPr wrap="none" lIns="0" tIns="0" rIns="0" bIns="0" rtlCol="0" anchor="ctr"/>
          <a:lstStyle/>
          <a:p>
            <a:pPr marL="0" indent="0">
              <a:buNone/>
            </a:pPr>
            <a:r>
              <a:rPr lang="en-US" sz="2800" dirty="0">
                <a:solidFill>
                  <a:schemeClr val="bg1"/>
                </a:solidFill>
              </a:rPr>
              <a:t>Cost</a:t>
            </a:r>
            <a:endParaRPr lang="en-US" sz="2800" dirty="0"/>
          </a:p>
        </p:txBody>
      </p:sp>
      <p:sp>
        <p:nvSpPr>
          <p:cNvPr id="42" name="!!Item4"/>
          <p:cNvSpPr txBox="1"/>
          <p:nvPr/>
        </p:nvSpPr>
        <p:spPr>
          <a:xfrm>
            <a:off x="-4572000" y="3520440"/>
            <a:ext cx="2194560" cy="548640"/>
          </a:xfrm>
          <a:prstGeom prst="rect">
            <a:avLst/>
          </a:prstGeom>
          <a:noFill/>
          <a:ln/>
        </p:spPr>
        <p:txBody>
          <a:bodyPr wrap="none" lIns="0" tIns="0" rIns="0" bIns="0" rtlCol="0" anchor="ctr"/>
          <a:lstStyle/>
          <a:p>
            <a:pPr marL="0" indent="0">
              <a:buNone/>
            </a:pPr>
            <a:r>
              <a:rPr lang="en-US" sz="2800" dirty="0">
                <a:solidFill>
                  <a:schemeClr val="bg1"/>
                </a:solidFill>
              </a:rPr>
              <a:t>Bench</a:t>
            </a:r>
            <a:endParaRPr lang="en-US" sz="2800" dirty="0"/>
          </a:p>
        </p:txBody>
      </p:sp>
      <p:sp>
        <p:nvSpPr>
          <p:cNvPr id="43" name="!!Item5"/>
          <p:cNvSpPr txBox="1"/>
          <p:nvPr/>
        </p:nvSpPr>
        <p:spPr>
          <a:xfrm>
            <a:off x="-4572000" y="4251960"/>
            <a:ext cx="2194560" cy="548640"/>
          </a:xfrm>
          <a:prstGeom prst="rect">
            <a:avLst/>
          </a:prstGeom>
          <a:noFill/>
          <a:ln/>
        </p:spPr>
        <p:txBody>
          <a:bodyPr wrap="none" lIns="0" tIns="0" rIns="0" bIns="0" rtlCol="0" anchor="ctr"/>
          <a:lstStyle/>
          <a:p>
            <a:pPr marL="0" indent="0">
              <a:buNone/>
            </a:pPr>
            <a:r>
              <a:rPr lang="en-US" sz="2800" dirty="0">
                <a:solidFill>
                  <a:schemeClr val="bg1"/>
                </a:solidFill>
              </a:rPr>
              <a:t>Job</a:t>
            </a:r>
            <a:endParaRPr lang="en-US" sz="2800" dirty="0"/>
          </a:p>
        </p:txBody>
      </p:sp>
      <p:sp>
        <p:nvSpPr>
          <p:cNvPr id="44" name="!!Item6"/>
          <p:cNvSpPr txBox="1"/>
          <p:nvPr/>
        </p:nvSpPr>
        <p:spPr>
          <a:xfrm>
            <a:off x="-4572000" y="4983480"/>
            <a:ext cx="2194560" cy="548640"/>
          </a:xfrm>
          <a:prstGeom prst="rect">
            <a:avLst/>
          </a:prstGeom>
          <a:noFill/>
          <a:ln/>
        </p:spPr>
        <p:txBody>
          <a:bodyPr wrap="none" lIns="0" tIns="0" rIns="0" bIns="0" rtlCol="0" anchor="ctr"/>
          <a:lstStyle/>
          <a:p>
            <a:pPr marL="0" indent="0">
              <a:buNone/>
            </a:pPr>
            <a:r>
              <a:rPr lang="en-US" sz="2800" dirty="0">
                <a:solidFill>
                  <a:schemeClr val="bg1"/>
                </a:solidFill>
              </a:rPr>
              <a:t>Next</a:t>
            </a:r>
            <a:endParaRPr lang="en-US" sz="2800" dirty="0"/>
          </a:p>
        </p:txBody>
      </p:sp>
      <p:sp>
        <p:nvSpPr>
          <p:cNvPr id="45" name="!!Item7"/>
          <p:cNvSpPr txBox="1"/>
          <p:nvPr/>
        </p:nvSpPr>
        <p:spPr>
          <a:xfrm>
            <a:off x="-4572000" y="5715000"/>
            <a:ext cx="2194560" cy="548640"/>
          </a:xfrm>
          <a:prstGeom prst="rect">
            <a:avLst/>
          </a:prstGeom>
          <a:noFill/>
          <a:ln/>
        </p:spPr>
        <p:txBody>
          <a:bodyPr wrap="none" lIns="0" tIns="0" rIns="0" bIns="0" rtlCol="0" anchor="ctr"/>
          <a:lstStyle/>
          <a:p>
            <a:pPr marL="0" indent="0">
              <a:buNone/>
            </a:pPr>
            <a:r>
              <a:rPr lang="en-US" sz="2800" dirty="0">
                <a:solidFill>
                  <a:schemeClr val="bg1"/>
                </a:solidFill>
              </a:rPr>
              <a:t>Close</a:t>
            </a:r>
            <a:endParaRPr lang="en-US" sz="2800" dirty="0"/>
          </a:p>
        </p:txBody>
      </p:sp>
      <p:sp>
        <p:nvSpPr>
          <p:cNvPr id="46" name="!!Hit0">
            <a:hlinkClick r:id="rId3" action="ppaction://hlinksldjump" tooltip="Go to Incident"/>
          </p:cNvPr>
          <p:cNvSpPr/>
          <p:nvPr/>
        </p:nvSpPr>
        <p:spPr>
          <a:xfrm>
            <a:off x="-4572000" y="594360"/>
            <a:ext cx="2194560" cy="548640"/>
          </a:xfrm>
          <a:prstGeom prst="rect">
            <a:avLst/>
          </a:prstGeom>
          <a:solidFill>
            <a:schemeClr val="tx1">
              <a:alpha val="0"/>
            </a:schemeClr>
          </a:solidFill>
          <a:ln/>
        </p:spPr>
        <p:txBody>
          <a:bodyPr/>
          <a:lstStyle/>
          <a:p>
            <a:endParaRPr lang="en-IN"/>
          </a:p>
        </p:txBody>
      </p:sp>
      <p:sp>
        <p:nvSpPr>
          <p:cNvPr id="47" name="!!Hit1">
            <a:hlinkClick r:id="rId4" action="ppaction://hlinksldjump" tooltip="Go to Problem"/>
          </p:cNvPr>
          <p:cNvSpPr/>
          <p:nvPr/>
        </p:nvSpPr>
        <p:spPr>
          <a:xfrm>
            <a:off x="-4572000" y="1325880"/>
            <a:ext cx="2194560" cy="548640"/>
          </a:xfrm>
          <a:prstGeom prst="rect">
            <a:avLst/>
          </a:prstGeom>
          <a:solidFill>
            <a:schemeClr val="tx1">
              <a:alpha val="0"/>
            </a:schemeClr>
          </a:solidFill>
          <a:ln/>
        </p:spPr>
        <p:txBody>
          <a:bodyPr/>
          <a:lstStyle/>
          <a:p>
            <a:endParaRPr lang="en-IN"/>
          </a:p>
        </p:txBody>
      </p:sp>
      <p:sp>
        <p:nvSpPr>
          <p:cNvPr id="48" name="!!Hit2">
            <a:hlinkClick r:id="rId5" action="ppaction://hlinksldjump" tooltip="Go to Twin"/>
          </p:cNvPr>
          <p:cNvSpPr/>
          <p:nvPr/>
        </p:nvSpPr>
        <p:spPr>
          <a:xfrm>
            <a:off x="-4572000" y="2057400"/>
            <a:ext cx="2194560" cy="548640"/>
          </a:xfrm>
          <a:prstGeom prst="rect">
            <a:avLst/>
          </a:prstGeom>
          <a:solidFill>
            <a:schemeClr val="tx1">
              <a:alpha val="0"/>
            </a:schemeClr>
          </a:solidFill>
          <a:ln/>
        </p:spPr>
        <p:txBody>
          <a:bodyPr/>
          <a:lstStyle/>
          <a:p>
            <a:endParaRPr lang="en-IN"/>
          </a:p>
        </p:txBody>
      </p:sp>
      <p:sp>
        <p:nvSpPr>
          <p:cNvPr id="49" name="!!Hit3">
            <a:hlinkClick r:id="rId6" action="ppaction://hlinksldjump" tooltip="Go to Cost"/>
          </p:cNvPr>
          <p:cNvSpPr/>
          <p:nvPr/>
        </p:nvSpPr>
        <p:spPr>
          <a:xfrm>
            <a:off x="-4572000" y="2788920"/>
            <a:ext cx="2194560" cy="548640"/>
          </a:xfrm>
          <a:prstGeom prst="rect">
            <a:avLst/>
          </a:prstGeom>
          <a:solidFill>
            <a:schemeClr val="tx1">
              <a:alpha val="0"/>
            </a:schemeClr>
          </a:solidFill>
          <a:ln/>
        </p:spPr>
        <p:txBody>
          <a:bodyPr/>
          <a:lstStyle/>
          <a:p>
            <a:endParaRPr lang="en-IN"/>
          </a:p>
        </p:txBody>
      </p:sp>
      <p:sp>
        <p:nvSpPr>
          <p:cNvPr id="50" name="!!Hit4">
            <a:hlinkClick r:id="rId7" action="ppaction://hlinksldjump" tooltip="Go to Bench"/>
          </p:cNvPr>
          <p:cNvSpPr/>
          <p:nvPr/>
        </p:nvSpPr>
        <p:spPr>
          <a:xfrm>
            <a:off x="-4572000" y="3520440"/>
            <a:ext cx="2194560" cy="548640"/>
          </a:xfrm>
          <a:prstGeom prst="rect">
            <a:avLst/>
          </a:prstGeom>
          <a:solidFill>
            <a:schemeClr val="tx1">
              <a:alpha val="0"/>
            </a:schemeClr>
          </a:solidFill>
          <a:ln/>
        </p:spPr>
        <p:txBody>
          <a:bodyPr/>
          <a:lstStyle/>
          <a:p>
            <a:endParaRPr lang="en-IN"/>
          </a:p>
        </p:txBody>
      </p:sp>
      <p:sp>
        <p:nvSpPr>
          <p:cNvPr id="51" name="!!Hit5">
            <a:hlinkClick r:id="rId8" action="ppaction://hlinksldjump" tooltip="Go to Job"/>
          </p:cNvPr>
          <p:cNvSpPr/>
          <p:nvPr/>
        </p:nvSpPr>
        <p:spPr>
          <a:xfrm>
            <a:off x="-4572000" y="4251960"/>
            <a:ext cx="2194560" cy="548640"/>
          </a:xfrm>
          <a:prstGeom prst="rect">
            <a:avLst/>
          </a:prstGeom>
          <a:solidFill>
            <a:schemeClr val="tx1">
              <a:alpha val="0"/>
            </a:schemeClr>
          </a:solidFill>
          <a:ln/>
        </p:spPr>
        <p:txBody>
          <a:bodyPr/>
          <a:lstStyle/>
          <a:p>
            <a:endParaRPr lang="en-IN"/>
          </a:p>
        </p:txBody>
      </p:sp>
      <p:sp>
        <p:nvSpPr>
          <p:cNvPr id="52" name="!!Hit6">
            <a:hlinkClick r:id="rId9" action="ppaction://hlinksldjump" tooltip="Go to Next"/>
          </p:cNvPr>
          <p:cNvSpPr/>
          <p:nvPr/>
        </p:nvSpPr>
        <p:spPr>
          <a:xfrm>
            <a:off x="-4572000" y="4983480"/>
            <a:ext cx="2194560" cy="548640"/>
          </a:xfrm>
          <a:prstGeom prst="rect">
            <a:avLst/>
          </a:prstGeom>
          <a:solidFill>
            <a:schemeClr val="tx1">
              <a:alpha val="0"/>
            </a:schemeClr>
          </a:solidFill>
          <a:ln/>
        </p:spPr>
        <p:txBody>
          <a:bodyPr/>
          <a:lstStyle/>
          <a:p>
            <a:endParaRPr lang="en-IN"/>
          </a:p>
        </p:txBody>
      </p:sp>
      <p:sp>
        <p:nvSpPr>
          <p:cNvPr id="53" name="!!Hit7">
            <a:hlinkClick r:id="rId10" action="ppaction://hlinksldjump" tooltip="Go to Close"/>
          </p:cNvPr>
          <p:cNvSpPr/>
          <p:nvPr/>
        </p:nvSpPr>
        <p:spPr>
          <a:xfrm>
            <a:off x="-4572000" y="5715000"/>
            <a:ext cx="2194560" cy="548640"/>
          </a:xfrm>
          <a:prstGeom prst="rect">
            <a:avLst/>
          </a:prstGeom>
          <a:solidFill>
            <a:schemeClr val="tx1">
              <a:alpha val="0"/>
            </a:schemeClr>
          </a:solidFill>
          <a:ln/>
        </p:spPr>
        <p:txBody>
          <a:bodyPr/>
          <a:lstStyle/>
          <a:p>
            <a:endParaRPr lang="en-IN"/>
          </a:p>
        </p:txBody>
      </p:sp>
      <p:sp>
        <p:nvSpPr>
          <p:cNvPr id="54" name="!!Marker"/>
          <p:cNvSpPr/>
          <p:nvPr/>
        </p:nvSpPr>
        <p:spPr>
          <a:xfrm rot="5400000">
            <a:off x="-914400" y="3291840"/>
            <a:ext cx="274320" cy="274320"/>
          </a:xfrm>
          <a:prstGeom prst="triangle">
            <a:avLst/>
          </a:prstGeom>
          <a:solidFill>
            <a:schemeClr val="bg1"/>
          </a:solidFill>
          <a:ln/>
        </p:spPr>
        <p:txBody>
          <a:bodyPr/>
          <a:lstStyle/>
          <a:p>
            <a:endParaRPr lang="en-IN"/>
          </a:p>
        </p:txBody>
      </p:sp>
      <p:sp>
        <p:nvSpPr>
          <p:cNvPr id="55" name="!!PitchTitle"/>
          <p:cNvSpPr txBox="1"/>
          <p:nvPr/>
        </p:nvSpPr>
        <p:spPr>
          <a:xfrm>
            <a:off x="640080" y="1691640"/>
            <a:ext cx="5120640" cy="1737360"/>
          </a:xfrm>
          <a:prstGeom prst="rect">
            <a:avLst/>
          </a:prstGeom>
          <a:noFill/>
          <a:ln/>
        </p:spPr>
        <p:txBody>
          <a:bodyPr wrap="square" lIns="0" tIns="0" rIns="0" bIns="0" rtlCol="0" anchor="t"/>
          <a:lstStyle/>
          <a:p>
            <a:pPr marL="0" indent="0">
              <a:buNone/>
            </a:pPr>
            <a:r>
              <a:rPr lang="en-US" sz="5200" b="1" dirty="0">
                <a:solidFill>
                  <a:schemeClr val="bg1"/>
                </a:solidFill>
                <a:latin typeface="Algerian" panose="04020705040A02060702" pitchFamily="82" charset="0"/>
              </a:rPr>
              <a:t>NEURATWIN</a:t>
            </a:r>
            <a:endParaRPr lang="en-US" sz="5200" dirty="0">
              <a:latin typeface="Algerian" panose="04020705040A02060702" pitchFamily="82" charset="0"/>
            </a:endParaRPr>
          </a:p>
          <a:p>
            <a:pPr marL="0" indent="0">
              <a:buNone/>
            </a:pPr>
            <a:r>
              <a:rPr lang="en-US" sz="5200" b="1" dirty="0">
                <a:solidFill>
                  <a:schemeClr val="bg1"/>
                </a:solidFill>
                <a:latin typeface="Algerian" panose="04020705040A02060702" pitchFamily="82" charset="0"/>
              </a:rPr>
              <a:t>HALO</a:t>
            </a:r>
            <a:endParaRPr lang="en-US" sz="5200" dirty="0">
              <a:latin typeface="Algerian" panose="04020705040A02060702" pitchFamily="82" charset="0"/>
            </a:endParaRPr>
          </a:p>
        </p:txBody>
      </p:sp>
      <p:sp>
        <p:nvSpPr>
          <p:cNvPr id="56" name="!!Eyebrow"/>
          <p:cNvSpPr txBox="1"/>
          <p:nvPr/>
        </p:nvSpPr>
        <p:spPr>
          <a:xfrm>
            <a:off x="640080" y="1280160"/>
            <a:ext cx="5029200" cy="320040"/>
          </a:xfrm>
          <a:prstGeom prst="rect">
            <a:avLst/>
          </a:prstGeom>
          <a:noFill/>
          <a:ln/>
        </p:spPr>
        <p:txBody>
          <a:bodyPr wrap="square" lIns="0" tIns="0" rIns="0" bIns="0" rtlCol="0" anchor="t"/>
          <a:lstStyle/>
          <a:p>
            <a:pPr marL="0" indent="0">
              <a:buNone/>
            </a:pPr>
            <a:r>
              <a:rPr lang="en-US" sz="2000" b="1" kern="0" spc="600" dirty="0">
                <a:solidFill>
                  <a:schemeClr val="accent5"/>
                </a:solidFill>
                <a:latin typeface="Dubai" panose="020B0503030403030204" pitchFamily="34" charset="-78"/>
                <a:cs typeface="Dubai" panose="020B0503030403030204" pitchFamily="34" charset="-78"/>
              </a:rPr>
              <a:t>NEURA</a:t>
            </a:r>
            <a:r>
              <a:rPr lang="en-US" sz="2000" b="1" kern="0" spc="600" dirty="0">
                <a:solidFill>
                  <a:schemeClr val="accent5"/>
                </a:solidFill>
              </a:rPr>
              <a:t> RANGERS</a:t>
            </a:r>
            <a:endParaRPr lang="en-US" sz="2000" dirty="0"/>
          </a:p>
        </p:txBody>
      </p:sp>
      <p:sp>
        <p:nvSpPr>
          <p:cNvPr id="57" name="!!PitchBody"/>
          <p:cNvSpPr txBox="1"/>
          <p:nvPr/>
        </p:nvSpPr>
        <p:spPr>
          <a:xfrm>
            <a:off x="640080" y="3474720"/>
            <a:ext cx="5029200" cy="1188720"/>
          </a:xfrm>
          <a:prstGeom prst="rect">
            <a:avLst/>
          </a:prstGeom>
          <a:noFill/>
          <a:ln/>
        </p:spPr>
        <p:txBody>
          <a:bodyPr wrap="square" lIns="0" tIns="0" rIns="0" bIns="0" rtlCol="0" anchor="t"/>
          <a:lstStyle/>
          <a:p>
            <a:pPr marL="0" indent="0">
              <a:buNone/>
            </a:pPr>
            <a:r>
              <a:rPr lang="en-US" sz="2400" dirty="0">
                <a:solidFill>
                  <a:schemeClr val="bg1"/>
                </a:solidFill>
                <a:latin typeface="Dubai" panose="020B0503030403030204" pitchFamily="34" charset="-78"/>
                <a:cs typeface="Dubai" panose="020B0503030403030204" pitchFamily="34" charset="-78"/>
              </a:rPr>
              <a:t>Know which transformer needs attention—and whether the action worked</a:t>
            </a:r>
            <a:endParaRPr lang="en-US" sz="2400" dirty="0">
              <a:latin typeface="Dubai" panose="020B0503030403030204" pitchFamily="34" charset="-78"/>
              <a:cs typeface="Dubai" panose="020B0503030403030204" pitchFamily="34" charset="-78"/>
            </a:endParaRPr>
          </a:p>
        </p:txBody>
      </p:sp>
      <p:sp>
        <p:nvSpPr>
          <p:cNvPr id="58" name="!!Support"/>
          <p:cNvSpPr txBox="1"/>
          <p:nvPr/>
        </p:nvSpPr>
        <p:spPr>
          <a:xfrm>
            <a:off x="640080" y="4800600"/>
            <a:ext cx="5029200" cy="914400"/>
          </a:xfrm>
          <a:prstGeom prst="rect">
            <a:avLst/>
          </a:prstGeom>
          <a:noFill/>
          <a:ln/>
        </p:spPr>
        <p:txBody>
          <a:bodyPr wrap="square" lIns="0" tIns="0" rIns="0" bIns="0" rtlCol="0" anchor="t"/>
          <a:lstStyle/>
          <a:p>
            <a:pPr marL="0" indent="0">
              <a:buNone/>
            </a:pPr>
            <a:r>
              <a:rPr lang="en-US" sz="1800" dirty="0">
                <a:solidFill>
                  <a:schemeClr val="bg2"/>
                </a:solidFill>
                <a:latin typeface="Dubai" panose="020B0503030403030204" pitchFamily="34" charset="-78"/>
                <a:cs typeface="Dubai" panose="020B0503030403030204" pitchFamily="34" charset="-78"/>
              </a:rPr>
              <a:t>A digital twin for distribution transformer condition monitoring and predictive maintenance.</a:t>
            </a:r>
            <a:endParaRPr lang="en-US" sz="1800" dirty="0">
              <a:latin typeface="Dubai" panose="020B0503030403030204" pitchFamily="34" charset="-78"/>
              <a:cs typeface="Dubai" panose="020B0503030403030204" pitchFamily="34" charset="-78"/>
            </a:endParaRPr>
          </a:p>
        </p:txBody>
      </p:sp>
      <p:sp>
        <p:nvSpPr>
          <p:cNvPr id="59" name="!!Foot"/>
          <p:cNvSpPr txBox="1"/>
          <p:nvPr/>
        </p:nvSpPr>
        <p:spPr>
          <a:xfrm>
            <a:off x="640080" y="5943600"/>
            <a:ext cx="5029200" cy="457200"/>
          </a:xfrm>
          <a:prstGeom prst="rect">
            <a:avLst/>
          </a:prstGeom>
          <a:noFill/>
          <a:ln/>
        </p:spPr>
        <p:txBody>
          <a:bodyPr wrap="square" lIns="0" tIns="0" rIns="0" bIns="0" rtlCol="0" anchor="t"/>
          <a:lstStyle/>
          <a:p>
            <a:pPr marL="0" indent="0">
              <a:buNone/>
            </a:pPr>
            <a:r>
              <a:rPr lang="en-US" sz="2000" b="1" dirty="0">
                <a:solidFill>
                  <a:schemeClr val="accent5"/>
                </a:solidFill>
                <a:latin typeface="Dubai" panose="020B0503030403030204" pitchFamily="34" charset="-78"/>
                <a:cs typeface="Dubai" panose="020B0503030403030204" pitchFamily="34" charset="-78"/>
              </a:rPr>
              <a:t>CPRI Track 2 · PowerNext-AI Hackathon</a:t>
            </a:r>
            <a:endParaRPr lang="en-US" sz="2000" dirty="0">
              <a:latin typeface="Dubai" panose="020B0503030403030204" pitchFamily="34" charset="-78"/>
              <a:cs typeface="Dubai" panose="020B0503030403030204" pitchFamily="34" charset="-78"/>
            </a:endParaRPr>
          </a:p>
        </p:txBody>
      </p:sp>
      <p:sp>
        <p:nvSpPr>
          <p:cNvPr id="33" name="!!HeroFrame"/>
          <p:cNvSpPr>
            <a:spLocks noGrp="1" noRot="1" noMove="1" noResize="1" noEditPoints="1" noAdjustHandles="1" noChangeArrowheads="1" noChangeShapeType="1"/>
          </p:cNvSpPr>
          <p:nvPr/>
        </p:nvSpPr>
        <p:spPr>
          <a:xfrm>
            <a:off x="6309360" y="1005840"/>
            <a:ext cx="5760000" cy="3240000"/>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w="12700">
            <a:solidFill>
              <a:schemeClr val="accent4"/>
            </a:solidFill>
            <a:prstDash val="dash"/>
          </a:ln>
        </p:spPr>
        <p:txBody>
          <a:bodyPr/>
          <a:lstStyle/>
          <a:p>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5" name="!!HeroFrame"/>
          <p:cNvSpPr/>
          <p:nvPr/>
        </p:nvSpPr>
        <p:spPr>
          <a:xfrm>
            <a:off x="5760720" y="1417320"/>
            <a:ext cx="5760000" cy="3240000"/>
          </a:xfrm>
          <a:prstGeom prst="rect">
            <a:avLst/>
          </a:prstGeom>
          <a:solidFill>
            <a:schemeClr val="accent1"/>
          </a:solidFill>
          <a:ln w="12700">
            <a:solidFill>
              <a:schemeClr val="accent4"/>
            </a:solidFill>
            <a:prstDash val="dash"/>
          </a:ln>
        </p:spPr>
        <p:txBody>
          <a:bodyPr/>
          <a:lstStyle/>
          <a:p>
            <a:endParaRPr lang="en-IN"/>
          </a:p>
        </p:txBody>
      </p:sp>
      <p:sp>
        <p:nvSpPr>
          <p:cNvPr id="16" name="!!MediaPlay"/>
          <p:cNvSpPr/>
          <p:nvPr/>
        </p:nvSpPr>
        <p:spPr>
          <a:xfrm>
            <a:off x="8412480" y="2747772"/>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686800" y="2994660"/>
            <a:ext cx="237744" cy="237744"/>
          </a:xfrm>
          <a:prstGeom prst="triangle">
            <a:avLst/>
          </a:prstGeom>
          <a:solidFill>
            <a:schemeClr val="bg1"/>
          </a:solidFill>
          <a:ln/>
        </p:spPr>
        <p:txBody>
          <a:bodyPr/>
          <a:lstStyle/>
          <a:p>
            <a:endParaRPr lang="en-IN"/>
          </a:p>
        </p:txBody>
      </p:sp>
      <p:sp>
        <p:nvSpPr>
          <p:cNvPr id="18" name="!!MediaLabel"/>
          <p:cNvSpPr txBox="1"/>
          <p:nvPr/>
        </p:nvSpPr>
        <p:spPr>
          <a:xfrm>
            <a:off x="5943600" y="1554480"/>
            <a:ext cx="5669280" cy="320040"/>
          </a:xfrm>
          <a:prstGeom prst="rect">
            <a:avLst/>
          </a:prstGeom>
          <a:noFill/>
          <a:ln/>
        </p:spPr>
        <p:txBody>
          <a:bodyPr wrap="square" lIns="0" tIns="0" rIns="0" bIns="0" rtlCol="0" anchor="t"/>
          <a:lstStyle/>
          <a:p>
            <a:pPr marL="0" indent="0">
              <a:buNone/>
            </a:pPr>
            <a:endParaRPr lang="en-US" sz="1600" dirty="0"/>
          </a:p>
        </p:txBody>
      </p:sp>
      <p:sp>
        <p:nvSpPr>
          <p:cNvPr id="19" name="!!MediaHint"/>
          <p:cNvSpPr txBox="1"/>
          <p:nvPr/>
        </p:nvSpPr>
        <p:spPr>
          <a:xfrm>
            <a:off x="5943600" y="4398264"/>
            <a:ext cx="5669280" cy="274320"/>
          </a:xfrm>
          <a:prstGeom prst="rect">
            <a:avLst/>
          </a:prstGeom>
          <a:noFill/>
          <a:ln/>
        </p:spPr>
        <p:txBody>
          <a:bodyPr wrap="square" lIns="0" tIns="0" rIns="0" bIns="0" rtlCol="0" anchor="t"/>
          <a:lstStyle/>
          <a:p>
            <a:pPr marL="0" indent="0">
              <a:buNone/>
            </a:pPr>
            <a:endParaRPr lang="en-US" sz="1600" dirty="0"/>
          </a:p>
        </p:txBody>
      </p:sp>
      <p:sp>
        <p:nvSpPr>
          <p:cNvPr id="20" name="!!Item0"/>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Incident</a:t>
            </a:r>
            <a:endParaRPr lang="en-US" sz="3000" dirty="0"/>
          </a:p>
        </p:txBody>
      </p:sp>
      <p:sp>
        <p:nvSpPr>
          <p:cNvPr id="21" name="!!Item1"/>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Problem</a:t>
            </a:r>
            <a:endParaRPr lang="en-US" sz="2400" dirty="0"/>
          </a:p>
        </p:txBody>
      </p:sp>
      <p:sp>
        <p:nvSpPr>
          <p:cNvPr id="22" name="!!Item2"/>
          <p:cNvSpPr txBox="1"/>
          <p:nvPr/>
        </p:nvSpPr>
        <p:spPr>
          <a:xfrm rot="2040000">
            <a:off x="362538" y="5557912"/>
            <a:ext cx="2194560" cy="548640"/>
          </a:xfrm>
          <a:prstGeom prst="rect">
            <a:avLst/>
          </a:prstGeom>
          <a:noFill/>
          <a:ln/>
        </p:spPr>
        <p:txBody>
          <a:bodyPr wrap="none" lIns="0" tIns="0" rIns="0" bIns="0" rtlCol="0" anchor="ctr"/>
          <a:lstStyle/>
          <a:p>
            <a:pPr marL="0" indent="0">
              <a:buNone/>
            </a:pPr>
            <a:r>
              <a:rPr lang="en-US" sz="2400" dirty="0">
                <a:solidFill>
                  <a:schemeClr val="accent4"/>
                </a:solidFill>
              </a:rPr>
              <a:t>Twin</a:t>
            </a:r>
            <a:endParaRPr lang="en-US" sz="2400" dirty="0"/>
          </a:p>
        </p:txBody>
      </p:sp>
      <p:sp>
        <p:nvSpPr>
          <p:cNvPr id="23" name="!!Item3"/>
          <p:cNvSpPr txBox="1"/>
          <p:nvPr/>
        </p:nvSpPr>
        <p:spPr>
          <a:xfrm rot="3060000">
            <a:off x="-495782" y="649460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Cost</a:t>
            </a:r>
            <a:endParaRPr lang="en-US" sz="2400" dirty="0"/>
          </a:p>
        </p:txBody>
      </p:sp>
      <p:sp>
        <p:nvSpPr>
          <p:cNvPr id="24" name="!!Item4"/>
          <p:cNvSpPr txBox="1"/>
          <p:nvPr/>
        </p:nvSpPr>
        <p:spPr>
          <a:xfrm rot="4080000">
            <a:off x="-1590461" y="713942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Bench</a:t>
            </a:r>
            <a:endParaRPr lang="en-US" sz="2400" dirty="0"/>
          </a:p>
        </p:txBody>
      </p:sp>
      <p:sp>
        <p:nvSpPr>
          <p:cNvPr id="25" name="!!Item5"/>
          <p:cNvSpPr txBox="1"/>
          <p:nvPr/>
        </p:nvSpPr>
        <p:spPr>
          <a:xfrm rot="5100000">
            <a:off x="-2825833" y="743600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Job</a:t>
            </a:r>
            <a:endParaRPr lang="en-US" sz="2400" dirty="0"/>
          </a:p>
        </p:txBody>
      </p:sp>
      <p:sp>
        <p:nvSpPr>
          <p:cNvPr id="26" name="!!Item6"/>
          <p:cNvSpPr txBox="1"/>
          <p:nvPr/>
        </p:nvSpPr>
        <p:spPr>
          <a:xfrm rot="6120000">
            <a:off x="-4093938" y="73584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Next</a:t>
            </a:r>
            <a:endParaRPr lang="en-US" sz="2400" dirty="0"/>
          </a:p>
        </p:txBody>
      </p:sp>
      <p:sp>
        <p:nvSpPr>
          <p:cNvPr id="27" name="!!Item7"/>
          <p:cNvSpPr txBox="1"/>
          <p:nvPr/>
        </p:nvSpPr>
        <p:spPr>
          <a:xfrm rot="7140000">
            <a:off x="-5283957" y="691351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Close</a:t>
            </a:r>
            <a:endParaRPr lang="en-US" sz="2400" dirty="0"/>
          </a:p>
        </p:txBody>
      </p:sp>
      <p:sp>
        <p:nvSpPr>
          <p:cNvPr id="28" name="!!Hit0">
            <a:hlinkClick r:id="rId5" action="ppaction://hlinksldjump" tooltip="Go to Incident"/>
          </p:cNvPr>
          <p:cNvSpPr/>
          <p:nvPr/>
        </p:nvSpPr>
        <p:spPr>
          <a:xfrm>
            <a:off x="1097280" y="3154680"/>
            <a:ext cx="2194560" cy="548640"/>
          </a:xfrm>
          <a:prstGeom prst="rect">
            <a:avLst/>
          </a:prstGeom>
          <a:solidFill>
            <a:schemeClr val="tx1">
              <a:alpha val="0"/>
            </a:schemeClr>
          </a:solidFill>
          <a:ln/>
        </p:spPr>
        <p:txBody>
          <a:bodyPr/>
          <a:lstStyle/>
          <a:p>
            <a:endParaRPr lang="en-IN" dirty="0"/>
          </a:p>
        </p:txBody>
      </p:sp>
      <p:sp>
        <p:nvSpPr>
          <p:cNvPr id="29" name="!!Hit1">
            <a:hlinkClick r:id="rId6" action="ppaction://hlinksldjump" tooltip="Go to Problem"/>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0" name="!!Hit2">
            <a:hlinkClick r:id="rId7" action="ppaction://hlinksldjump" tooltip="Go to Twin"/>
          </p:cNvPr>
          <p:cNvSpPr/>
          <p:nvPr/>
        </p:nvSpPr>
        <p:spPr>
          <a:xfrm rot="2040000">
            <a:off x="362538" y="5557912"/>
            <a:ext cx="2194560" cy="548640"/>
          </a:xfrm>
          <a:prstGeom prst="rect">
            <a:avLst/>
          </a:prstGeom>
          <a:solidFill>
            <a:schemeClr val="tx1">
              <a:alpha val="0"/>
            </a:schemeClr>
          </a:solidFill>
          <a:ln/>
        </p:spPr>
        <p:txBody>
          <a:bodyPr/>
          <a:lstStyle/>
          <a:p>
            <a:endParaRPr lang="en-IN"/>
          </a:p>
        </p:txBody>
      </p:sp>
      <p:sp>
        <p:nvSpPr>
          <p:cNvPr id="31" name="!!Hit3">
            <a:hlinkClick r:id="rId8" action="ppaction://hlinksldjump" tooltip="Go to Cost"/>
          </p:cNvPr>
          <p:cNvSpPr/>
          <p:nvPr/>
        </p:nvSpPr>
        <p:spPr>
          <a:xfrm rot="3060000">
            <a:off x="-495782" y="6494605"/>
            <a:ext cx="2194560" cy="548640"/>
          </a:xfrm>
          <a:prstGeom prst="rect">
            <a:avLst/>
          </a:prstGeom>
          <a:solidFill>
            <a:schemeClr val="tx1">
              <a:alpha val="0"/>
            </a:schemeClr>
          </a:solidFill>
          <a:ln/>
        </p:spPr>
        <p:txBody>
          <a:bodyPr/>
          <a:lstStyle/>
          <a:p>
            <a:endParaRPr lang="en-IN"/>
          </a:p>
        </p:txBody>
      </p:sp>
      <p:sp>
        <p:nvSpPr>
          <p:cNvPr id="32" name="!!Hit4">
            <a:hlinkClick r:id="rId9" action="ppaction://hlinksldjump" tooltip="Go to Bench"/>
          </p:cNvPr>
          <p:cNvSpPr/>
          <p:nvPr/>
        </p:nvSpPr>
        <p:spPr>
          <a:xfrm rot="4080000">
            <a:off x="-1590461" y="7139420"/>
            <a:ext cx="2194560" cy="548640"/>
          </a:xfrm>
          <a:prstGeom prst="rect">
            <a:avLst/>
          </a:prstGeom>
          <a:solidFill>
            <a:schemeClr val="tx1">
              <a:alpha val="0"/>
            </a:schemeClr>
          </a:solidFill>
          <a:ln/>
        </p:spPr>
        <p:txBody>
          <a:bodyPr/>
          <a:lstStyle/>
          <a:p>
            <a:endParaRPr lang="en-IN"/>
          </a:p>
        </p:txBody>
      </p:sp>
      <p:sp>
        <p:nvSpPr>
          <p:cNvPr id="33" name="!!Hit5">
            <a:hlinkClick r:id="rId10" action="ppaction://hlinksldjump" tooltip="Go to Job"/>
          </p:cNvPr>
          <p:cNvSpPr/>
          <p:nvPr/>
        </p:nvSpPr>
        <p:spPr>
          <a:xfrm rot="5100000">
            <a:off x="-2825833" y="7436006"/>
            <a:ext cx="2194560" cy="548640"/>
          </a:xfrm>
          <a:prstGeom prst="rect">
            <a:avLst/>
          </a:prstGeom>
          <a:solidFill>
            <a:schemeClr val="tx1">
              <a:alpha val="0"/>
            </a:schemeClr>
          </a:solidFill>
          <a:ln/>
        </p:spPr>
        <p:txBody>
          <a:bodyPr/>
          <a:lstStyle/>
          <a:p>
            <a:endParaRPr lang="en-IN"/>
          </a:p>
        </p:txBody>
      </p:sp>
      <p:sp>
        <p:nvSpPr>
          <p:cNvPr id="34" name="!!Hit6">
            <a:hlinkClick r:id="rId11" action="ppaction://hlinksldjump" tooltip="Go to Next"/>
          </p:cNvPr>
          <p:cNvSpPr/>
          <p:nvPr/>
        </p:nvSpPr>
        <p:spPr>
          <a:xfrm rot="6120000">
            <a:off x="-4093938" y="7358445"/>
            <a:ext cx="2194560" cy="548640"/>
          </a:xfrm>
          <a:prstGeom prst="rect">
            <a:avLst/>
          </a:prstGeom>
          <a:solidFill>
            <a:schemeClr val="tx1">
              <a:alpha val="0"/>
            </a:schemeClr>
          </a:solidFill>
          <a:ln/>
        </p:spPr>
        <p:txBody>
          <a:bodyPr/>
          <a:lstStyle/>
          <a:p>
            <a:endParaRPr lang="en-IN"/>
          </a:p>
        </p:txBody>
      </p:sp>
      <p:sp>
        <p:nvSpPr>
          <p:cNvPr id="35" name="!!Hit7">
            <a:hlinkClick r:id="rId12" action="ppaction://hlinksldjump" tooltip="Go to Close"/>
          </p:cNvPr>
          <p:cNvSpPr/>
          <p:nvPr/>
        </p:nvSpPr>
        <p:spPr>
          <a:xfrm rot="7140000">
            <a:off x="-5283957" y="6913516"/>
            <a:ext cx="2194560" cy="548640"/>
          </a:xfrm>
          <a:prstGeom prst="rect">
            <a:avLst/>
          </a:prstGeom>
          <a:solidFill>
            <a:schemeClr val="tx1">
              <a:alpha val="0"/>
            </a:schemeClr>
          </a:solidFill>
          <a:ln/>
        </p:spPr>
        <p:txBody>
          <a:bodyPr/>
          <a:lstStyle/>
          <a:p>
            <a:endParaRPr lang="en-IN"/>
          </a:p>
        </p:txBody>
      </p:sp>
      <p:sp>
        <p:nvSpPr>
          <p:cNvPr id="36"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7" name="!!PitchTitle"/>
          <p:cNvSpPr txBox="1"/>
          <p:nvPr/>
        </p:nvSpPr>
        <p:spPr>
          <a:xfrm>
            <a:off x="5760720" y="320040"/>
            <a:ext cx="5669280" cy="960120"/>
          </a:xfrm>
          <a:prstGeom prst="rect">
            <a:avLst/>
          </a:prstGeom>
          <a:noFill/>
          <a:ln/>
        </p:spPr>
        <p:txBody>
          <a:bodyPr wrap="square" lIns="0" tIns="0" rIns="0" bIns="0" rtlCol="0" anchor="t"/>
          <a:lstStyle/>
          <a:p>
            <a:pPr marL="0" indent="0">
              <a:buNone/>
            </a:pPr>
            <a:r>
              <a:rPr lang="en-US" sz="3000" b="1" dirty="0">
                <a:solidFill>
                  <a:schemeClr val="bg1"/>
                </a:solidFill>
                <a:latin typeface="Dubai" panose="020B0503030403030204" pitchFamily="34" charset="-78"/>
                <a:cs typeface="Dubai" panose="020B0503030403030204" pitchFamily="34" charset="-78"/>
              </a:rPr>
              <a:t>When the grid fails,</a:t>
            </a:r>
            <a:endParaRPr lang="en-US" sz="3000" dirty="0">
              <a:latin typeface="Dubai" panose="020B0503030403030204" pitchFamily="34" charset="-78"/>
              <a:cs typeface="Dubai" panose="020B0503030403030204" pitchFamily="34" charset="-78"/>
            </a:endParaRPr>
          </a:p>
          <a:p>
            <a:pPr marL="0" indent="0">
              <a:buNone/>
            </a:pPr>
            <a:r>
              <a:rPr lang="en-US" sz="3000" b="1" dirty="0">
                <a:solidFill>
                  <a:schemeClr val="bg1"/>
                </a:solidFill>
                <a:latin typeface="Dubai" panose="020B0503030403030204" pitchFamily="34" charset="-78"/>
                <a:cs typeface="Dubai" panose="020B0503030403030204" pitchFamily="34" charset="-78"/>
              </a:rPr>
              <a:t>people feel it.</a:t>
            </a:r>
            <a:endParaRPr lang="en-US" sz="3000" dirty="0">
              <a:latin typeface="Dubai" panose="020B0503030403030204" pitchFamily="34" charset="-78"/>
              <a:cs typeface="Dubai" panose="020B0503030403030204" pitchFamily="34" charset="-78"/>
            </a:endParaRPr>
          </a:p>
        </p:txBody>
      </p:sp>
      <p:sp>
        <p:nvSpPr>
          <p:cNvPr id="38" name="S3c0"/>
          <p:cNvSpPr/>
          <p:nvPr/>
        </p:nvSpPr>
        <p:spPr>
          <a:xfrm>
            <a:off x="5760720" y="4956048"/>
            <a:ext cx="2971800" cy="54864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Yelahanka RMU incident</a:t>
            </a:r>
            <a:endParaRPr lang="en-US" sz="1800" dirty="0"/>
          </a:p>
        </p:txBody>
      </p:sp>
      <p:sp>
        <p:nvSpPr>
          <p:cNvPr id="39" name="S3c1"/>
          <p:cNvSpPr/>
          <p:nvPr/>
        </p:nvSpPr>
        <p:spPr>
          <a:xfrm>
            <a:off x="8823960" y="4956048"/>
            <a:ext cx="2971800" cy="54864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Reported 7 October 2026</a:t>
            </a:r>
            <a:endParaRPr lang="en-US" sz="1800" dirty="0"/>
          </a:p>
        </p:txBody>
      </p:sp>
      <p:sp>
        <p:nvSpPr>
          <p:cNvPr id="40" name="S3key"/>
          <p:cNvSpPr txBox="1"/>
          <p:nvPr/>
        </p:nvSpPr>
        <p:spPr>
          <a:xfrm>
            <a:off x="5760720" y="5669280"/>
            <a:ext cx="5669280" cy="640080"/>
          </a:xfrm>
          <a:prstGeom prst="rect">
            <a:avLst/>
          </a:prstGeom>
          <a:noFill/>
          <a:ln/>
        </p:spPr>
        <p:txBody>
          <a:bodyPr wrap="square" lIns="0" tIns="0" rIns="0" bIns="0" rtlCol="0" anchor="t"/>
          <a:lstStyle/>
          <a:p>
            <a:pPr marL="0" indent="0">
              <a:buNone/>
            </a:pPr>
            <a:r>
              <a:rPr lang="en-US" sz="2000" b="1" dirty="0">
                <a:solidFill>
                  <a:schemeClr val="accent6"/>
                </a:solidFill>
                <a:latin typeface="Dubai" panose="020B0503030403030204" pitchFamily="34" charset="-78"/>
                <a:cs typeface="Dubai" panose="020B0503030403030204" pitchFamily="34" charset="-78"/>
              </a:rPr>
              <a:t>A reported incident. Its cause is not inferred.</a:t>
            </a:r>
            <a:endParaRPr lang="en-US" sz="2000" dirty="0">
              <a:latin typeface="Dubai" panose="020B0503030403030204" pitchFamily="34" charset="-78"/>
              <a:cs typeface="Dubai" panose="020B0503030403030204" pitchFamily="34" charset="-78"/>
            </a:endParaRPr>
          </a:p>
        </p:txBody>
      </p:sp>
      <p:pic>
        <p:nvPicPr>
          <p:cNvPr id="42" name="newTransformerblastvideo">
            <a:hlinkClick r:id="" action="ppaction://media"/>
            <a:extLst>
              <a:ext uri="{FF2B5EF4-FFF2-40B4-BE49-F238E27FC236}">
                <a16:creationId xmlns:a16="http://schemas.microsoft.com/office/drawing/2014/main" id="{D9FBC3DA-F722-7F22-A571-ECB89A534835}"/>
              </a:ext>
            </a:extLst>
          </p:cNvPr>
          <p:cNvPicPr>
            <a:picLocks noGrp="1" noRot="1" noChangeAspect="1" noMove="1" noResize="1" noEditPoints="1" noAdjustHandles="1" noChangeArrowheads="1" noChangeShapeType="1" noCrop="1"/>
          </p:cNvPicPr>
          <p:nvPr>
            <a:videoFile r:link="rId1"/>
            <p:extLst>
              <p:ext uri="{DAA4B4D4-6D71-4841-9C94-3DE7FCFB9230}">
                <p14:media xmlns:p14="http://schemas.microsoft.com/office/powerpoint/2010/main" r:embed="rId2">
                  <p14:trim st="140"/>
                </p14:media>
              </p:ext>
            </p:extLst>
          </p:nvPr>
        </p:nvPicPr>
        <p:blipFill>
          <a:blip r:embed="rId13"/>
          <a:srcRect l="7620" t="3957" r="7396" b="9576"/>
          <a:stretch>
            <a:fillRect/>
          </a:stretch>
        </p:blipFill>
        <p:spPr>
          <a:xfrm>
            <a:off x="5760720" y="1411605"/>
            <a:ext cx="5760000" cy="3303213"/>
          </a:xfrm>
          <a:prstGeom prst="rect">
            <a:avLst/>
          </a:prstGeom>
          <a:ln>
            <a:noFill/>
          </a:ln>
          <a:effectLst>
            <a:softEdge rad="112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300"/>
                                        <p:tgtEl>
                                          <p:spTgt spid="38"/>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300"/>
                                        <p:tgtEl>
                                          <p:spTgt spid="39"/>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3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7432"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18" fill="hold" display="0">
                  <p:stCondLst>
                    <p:cond delay="indefinite"/>
                  </p:stCondLst>
                </p:cTn>
                <p:tgtEl>
                  <p:spTgt spid="42"/>
                </p:tgtEl>
              </p:cMediaNode>
            </p:video>
            <p:seq concurrent="1" nextAc="seek">
              <p:cTn id="19" restart="whenNotActive" fill="hold" evtFilter="cancelBubble" nodeType="interactiveSeq">
                <p:stCondLst>
                  <p:cond evt="onClick" delay="0">
                    <p:tgtEl>
                      <p:spTgt spid="42"/>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42"/>
                                        </p:tgtEl>
                                      </p:cBhvr>
                                    </p:cmd>
                                  </p:childTnLst>
                                </p:cTn>
                              </p:par>
                            </p:childTnLst>
                          </p:cTn>
                        </p:par>
                      </p:childTnLst>
                    </p:cTn>
                  </p:par>
                </p:childTnLst>
              </p:cTn>
              <p:nextCondLst>
                <p:cond evt="onClick" delay="0">
                  <p:tgtEl>
                    <p:spTgt spid="42"/>
                  </p:tgtEl>
                </p:cond>
              </p:nextCondLst>
            </p:seq>
          </p:childTnLst>
        </p:cTn>
      </p:par>
    </p:tnLst>
    <p:bldLst>
      <p:bldP spid="38" grpId="0" animBg="1"/>
      <p:bldP spid="39" grpId="0" animBg="1"/>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6" name="!!MediaPlay"/>
          <p:cNvSpPr/>
          <p:nvPr/>
        </p:nvSpPr>
        <p:spPr>
          <a:xfrm>
            <a:off x="8138160" y="2548890"/>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412480" y="2795778"/>
            <a:ext cx="237744" cy="237744"/>
          </a:xfrm>
          <a:prstGeom prst="triangle">
            <a:avLst/>
          </a:prstGeom>
          <a:solidFill>
            <a:schemeClr val="bg1"/>
          </a:solidFill>
          <a:ln/>
        </p:spPr>
        <p:txBody>
          <a:bodyPr/>
          <a:lstStyle/>
          <a:p>
            <a:endParaRPr lang="en-IN"/>
          </a:p>
        </p:txBody>
      </p:sp>
      <p:sp>
        <p:nvSpPr>
          <p:cNvPr id="18" name="!!MediaLabel"/>
          <p:cNvSpPr txBox="1"/>
          <p:nvPr/>
        </p:nvSpPr>
        <p:spPr>
          <a:xfrm>
            <a:off x="5943600" y="1508760"/>
            <a:ext cx="5120640" cy="320040"/>
          </a:xfrm>
          <a:prstGeom prst="rect">
            <a:avLst/>
          </a:prstGeom>
          <a:noFill/>
          <a:ln/>
        </p:spPr>
        <p:txBody>
          <a:bodyPr wrap="square" lIns="0" tIns="0" rIns="0" bIns="0" rtlCol="0" anchor="t"/>
          <a:lstStyle/>
          <a:p>
            <a:pPr marL="0" indent="0">
              <a:buNone/>
            </a:pPr>
            <a:endParaRPr lang="en-US" sz="1600" dirty="0"/>
          </a:p>
        </p:txBody>
      </p:sp>
      <p:sp>
        <p:nvSpPr>
          <p:cNvPr id="19" name="!!MediaHint"/>
          <p:cNvSpPr txBox="1"/>
          <p:nvPr/>
        </p:nvSpPr>
        <p:spPr>
          <a:xfrm>
            <a:off x="5943600" y="4046220"/>
            <a:ext cx="5120640" cy="274320"/>
          </a:xfrm>
          <a:prstGeom prst="rect">
            <a:avLst/>
          </a:prstGeom>
          <a:noFill/>
          <a:ln/>
        </p:spPr>
        <p:txBody>
          <a:bodyPr wrap="square" lIns="0" tIns="0" rIns="0" bIns="0" rtlCol="0" anchor="t"/>
          <a:lstStyle/>
          <a:p>
            <a:pPr marL="0" indent="0">
              <a:buNone/>
            </a:pPr>
            <a:endParaRPr lang="en-US" sz="1600" dirty="0"/>
          </a:p>
        </p:txBody>
      </p:sp>
      <p:sp>
        <p:nvSpPr>
          <p:cNvPr id="20" name="!!Item0"/>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Incident</a:t>
            </a:r>
            <a:endParaRPr lang="en-US" sz="2400" dirty="0"/>
          </a:p>
        </p:txBody>
      </p:sp>
      <p:sp>
        <p:nvSpPr>
          <p:cNvPr id="21" name="!!Item1"/>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Problem</a:t>
            </a:r>
            <a:endParaRPr lang="en-US" sz="3000" dirty="0"/>
          </a:p>
        </p:txBody>
      </p:sp>
      <p:sp>
        <p:nvSpPr>
          <p:cNvPr id="22" name="!!Item2"/>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Twin</a:t>
            </a:r>
            <a:endParaRPr lang="en-US" sz="2400" dirty="0"/>
          </a:p>
        </p:txBody>
      </p:sp>
      <p:sp>
        <p:nvSpPr>
          <p:cNvPr id="23" name="!!Item3"/>
          <p:cNvSpPr txBox="1"/>
          <p:nvPr/>
        </p:nvSpPr>
        <p:spPr>
          <a:xfrm rot="2040000">
            <a:off x="362538" y="5557912"/>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Cost</a:t>
            </a:r>
            <a:endParaRPr lang="en-US" sz="2400" dirty="0"/>
          </a:p>
        </p:txBody>
      </p:sp>
      <p:sp>
        <p:nvSpPr>
          <p:cNvPr id="24" name="!!Item4"/>
          <p:cNvSpPr txBox="1"/>
          <p:nvPr/>
        </p:nvSpPr>
        <p:spPr>
          <a:xfrm rot="3060000">
            <a:off x="-495782" y="649460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Bench</a:t>
            </a:r>
            <a:endParaRPr lang="en-US" sz="2400" dirty="0"/>
          </a:p>
        </p:txBody>
      </p:sp>
      <p:sp>
        <p:nvSpPr>
          <p:cNvPr id="25" name="!!Item5"/>
          <p:cNvSpPr txBox="1"/>
          <p:nvPr/>
        </p:nvSpPr>
        <p:spPr>
          <a:xfrm rot="4080000">
            <a:off x="-1590461" y="713942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Job</a:t>
            </a:r>
            <a:endParaRPr lang="en-US" sz="2400" dirty="0"/>
          </a:p>
        </p:txBody>
      </p:sp>
      <p:sp>
        <p:nvSpPr>
          <p:cNvPr id="26" name="!!Item6"/>
          <p:cNvSpPr txBox="1"/>
          <p:nvPr/>
        </p:nvSpPr>
        <p:spPr>
          <a:xfrm rot="5100000">
            <a:off x="-2825833" y="743600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Next</a:t>
            </a:r>
            <a:endParaRPr lang="en-US" sz="2400" dirty="0"/>
          </a:p>
        </p:txBody>
      </p:sp>
      <p:sp>
        <p:nvSpPr>
          <p:cNvPr id="27" name="!!Item7"/>
          <p:cNvSpPr txBox="1"/>
          <p:nvPr/>
        </p:nvSpPr>
        <p:spPr>
          <a:xfrm rot="6120000">
            <a:off x="-4093938" y="73584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Close</a:t>
            </a:r>
            <a:endParaRPr lang="en-US" sz="2400" dirty="0"/>
          </a:p>
        </p:txBody>
      </p:sp>
      <p:sp>
        <p:nvSpPr>
          <p:cNvPr id="28" name="!!Hit0">
            <a:hlinkClick r:id="rId3" action="ppaction://hlinksldjump" tooltip="Go to Incident"/>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29" name="!!Hit1">
            <a:hlinkClick r:id="rId4" action="ppaction://hlinksldjump" tooltip="Go to Problem"/>
          </p:cNvPr>
          <p:cNvSpPr/>
          <p:nvPr/>
        </p:nvSpPr>
        <p:spPr>
          <a:xfrm>
            <a:off x="1097280" y="3154680"/>
            <a:ext cx="2194560" cy="548640"/>
          </a:xfrm>
          <a:prstGeom prst="rect">
            <a:avLst/>
          </a:prstGeom>
          <a:solidFill>
            <a:schemeClr val="tx1">
              <a:alpha val="0"/>
            </a:schemeClr>
          </a:solidFill>
          <a:ln/>
        </p:spPr>
        <p:txBody>
          <a:bodyPr/>
          <a:lstStyle/>
          <a:p>
            <a:endParaRPr lang="en-IN"/>
          </a:p>
        </p:txBody>
      </p:sp>
      <p:sp>
        <p:nvSpPr>
          <p:cNvPr id="30" name="!!Hit2">
            <a:hlinkClick r:id="rId5" action="ppaction://hlinksldjump" tooltip="Go to Twin"/>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1" name="!!Hit3">
            <a:hlinkClick r:id="rId6" action="ppaction://hlinksldjump" tooltip="Go to Cost"/>
          </p:cNvPr>
          <p:cNvSpPr/>
          <p:nvPr/>
        </p:nvSpPr>
        <p:spPr>
          <a:xfrm rot="2040000">
            <a:off x="362538" y="5557912"/>
            <a:ext cx="2194560" cy="548640"/>
          </a:xfrm>
          <a:prstGeom prst="rect">
            <a:avLst/>
          </a:prstGeom>
          <a:solidFill>
            <a:schemeClr val="tx1">
              <a:alpha val="0"/>
            </a:schemeClr>
          </a:solidFill>
          <a:ln/>
        </p:spPr>
        <p:txBody>
          <a:bodyPr/>
          <a:lstStyle/>
          <a:p>
            <a:endParaRPr lang="en-IN"/>
          </a:p>
        </p:txBody>
      </p:sp>
      <p:sp>
        <p:nvSpPr>
          <p:cNvPr id="32" name="!!Hit4">
            <a:hlinkClick r:id="rId7" action="ppaction://hlinksldjump" tooltip="Go to Bench"/>
          </p:cNvPr>
          <p:cNvSpPr/>
          <p:nvPr/>
        </p:nvSpPr>
        <p:spPr>
          <a:xfrm rot="3060000">
            <a:off x="-495782" y="6494605"/>
            <a:ext cx="2194560" cy="548640"/>
          </a:xfrm>
          <a:prstGeom prst="rect">
            <a:avLst/>
          </a:prstGeom>
          <a:solidFill>
            <a:schemeClr val="tx1">
              <a:alpha val="0"/>
            </a:schemeClr>
          </a:solidFill>
          <a:ln/>
        </p:spPr>
        <p:txBody>
          <a:bodyPr/>
          <a:lstStyle/>
          <a:p>
            <a:endParaRPr lang="en-IN"/>
          </a:p>
        </p:txBody>
      </p:sp>
      <p:sp>
        <p:nvSpPr>
          <p:cNvPr id="33" name="!!Hit5">
            <a:hlinkClick r:id="rId8" action="ppaction://hlinksldjump" tooltip="Go to Job"/>
          </p:cNvPr>
          <p:cNvSpPr/>
          <p:nvPr/>
        </p:nvSpPr>
        <p:spPr>
          <a:xfrm rot="4080000">
            <a:off x="-1590461" y="7139420"/>
            <a:ext cx="2194560" cy="548640"/>
          </a:xfrm>
          <a:prstGeom prst="rect">
            <a:avLst/>
          </a:prstGeom>
          <a:solidFill>
            <a:schemeClr val="tx1">
              <a:alpha val="0"/>
            </a:schemeClr>
          </a:solidFill>
          <a:ln/>
        </p:spPr>
        <p:txBody>
          <a:bodyPr/>
          <a:lstStyle/>
          <a:p>
            <a:endParaRPr lang="en-IN"/>
          </a:p>
        </p:txBody>
      </p:sp>
      <p:sp>
        <p:nvSpPr>
          <p:cNvPr id="34" name="!!Hit6">
            <a:hlinkClick r:id="rId9" action="ppaction://hlinksldjump" tooltip="Go to Next"/>
          </p:cNvPr>
          <p:cNvSpPr/>
          <p:nvPr/>
        </p:nvSpPr>
        <p:spPr>
          <a:xfrm rot="5100000">
            <a:off x="-2825833" y="7436006"/>
            <a:ext cx="2194560" cy="548640"/>
          </a:xfrm>
          <a:prstGeom prst="rect">
            <a:avLst/>
          </a:prstGeom>
          <a:solidFill>
            <a:schemeClr val="tx1">
              <a:alpha val="0"/>
            </a:schemeClr>
          </a:solidFill>
          <a:ln/>
        </p:spPr>
        <p:txBody>
          <a:bodyPr/>
          <a:lstStyle/>
          <a:p>
            <a:endParaRPr lang="en-IN"/>
          </a:p>
        </p:txBody>
      </p:sp>
      <p:sp>
        <p:nvSpPr>
          <p:cNvPr id="35" name="!!Hit7">
            <a:hlinkClick r:id="rId10" action="ppaction://hlinksldjump" tooltip="Go to Close"/>
          </p:cNvPr>
          <p:cNvSpPr/>
          <p:nvPr/>
        </p:nvSpPr>
        <p:spPr>
          <a:xfrm rot="6120000">
            <a:off x="-4093938" y="7358445"/>
            <a:ext cx="2194560" cy="548640"/>
          </a:xfrm>
          <a:prstGeom prst="rect">
            <a:avLst/>
          </a:prstGeom>
          <a:solidFill>
            <a:schemeClr val="tx1">
              <a:alpha val="0"/>
            </a:schemeClr>
          </a:solidFill>
          <a:ln/>
        </p:spPr>
        <p:txBody>
          <a:bodyPr/>
          <a:lstStyle/>
          <a:p>
            <a:endParaRPr lang="en-IN"/>
          </a:p>
        </p:txBody>
      </p:sp>
      <p:sp>
        <p:nvSpPr>
          <p:cNvPr id="36"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7" name="!!PitchTitle"/>
          <p:cNvSpPr txBox="1"/>
          <p:nvPr/>
        </p:nvSpPr>
        <p:spPr>
          <a:xfrm>
            <a:off x="5760720" y="320040"/>
            <a:ext cx="5669280" cy="960120"/>
          </a:xfrm>
          <a:prstGeom prst="rect">
            <a:avLst/>
          </a:prstGeom>
          <a:noFill/>
          <a:ln/>
        </p:spPr>
        <p:txBody>
          <a:bodyPr wrap="square" lIns="0" tIns="0" rIns="0" bIns="0" rtlCol="0" anchor="t"/>
          <a:lstStyle/>
          <a:p>
            <a:pPr marL="0" indent="0">
              <a:buNone/>
            </a:pPr>
            <a:r>
              <a:rPr lang="en-US" sz="3000" b="1" dirty="0">
                <a:solidFill>
                  <a:schemeClr val="bg1"/>
                </a:solidFill>
                <a:latin typeface="Dubai" panose="020B0503030403030204" pitchFamily="34" charset="-78"/>
                <a:cs typeface="Dubai" panose="020B0503030403030204" pitchFamily="34" charset="-78"/>
              </a:rPr>
              <a:t>Which transformer</a:t>
            </a:r>
            <a:endParaRPr lang="en-US" sz="3000" dirty="0">
              <a:latin typeface="Dubai" panose="020B0503030403030204" pitchFamily="34" charset="-78"/>
              <a:cs typeface="Dubai" panose="020B0503030403030204" pitchFamily="34" charset="-78"/>
            </a:endParaRPr>
          </a:p>
          <a:p>
            <a:pPr marL="0" indent="0">
              <a:buNone/>
            </a:pPr>
            <a:r>
              <a:rPr lang="en-US" sz="3000" b="1" dirty="0">
                <a:solidFill>
                  <a:schemeClr val="bg1"/>
                </a:solidFill>
                <a:latin typeface="Dubai" panose="020B0503030403030204" pitchFamily="34" charset="-78"/>
                <a:cs typeface="Dubai" panose="020B0503030403030204" pitchFamily="34" charset="-78"/>
              </a:rPr>
              <a:t>needs the next visit?</a:t>
            </a:r>
            <a:endParaRPr lang="en-US" sz="3000" dirty="0">
              <a:latin typeface="Dubai" panose="020B0503030403030204" pitchFamily="34" charset="-78"/>
              <a:cs typeface="Dubai" panose="020B0503030403030204" pitchFamily="34" charset="-78"/>
            </a:endParaRPr>
          </a:p>
        </p:txBody>
      </p:sp>
      <p:sp>
        <p:nvSpPr>
          <p:cNvPr id="38" name="S4c0"/>
          <p:cNvSpPr/>
          <p:nvPr/>
        </p:nvSpPr>
        <p:spPr>
          <a:xfrm>
            <a:off x="5760720" y="470304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Uneven visibility</a:t>
            </a:r>
            <a:endParaRPr lang="en-US" sz="1800" dirty="0"/>
          </a:p>
        </p:txBody>
      </p:sp>
      <p:sp>
        <p:nvSpPr>
          <p:cNvPr id="39" name="S4c1"/>
          <p:cNvSpPr/>
          <p:nvPr/>
        </p:nvSpPr>
        <p:spPr>
          <a:xfrm>
            <a:off x="8531352" y="470835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Deployment cost</a:t>
            </a:r>
            <a:endParaRPr lang="en-US" sz="1800" dirty="0"/>
          </a:p>
        </p:txBody>
      </p:sp>
      <p:sp>
        <p:nvSpPr>
          <p:cNvPr id="40" name="S4c2"/>
          <p:cNvSpPr/>
          <p:nvPr/>
        </p:nvSpPr>
        <p:spPr>
          <a:xfrm>
            <a:off x="5760720" y="521208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Limited field time</a:t>
            </a:r>
            <a:endParaRPr lang="en-US" sz="1800" dirty="0"/>
          </a:p>
        </p:txBody>
      </p:sp>
      <p:sp>
        <p:nvSpPr>
          <p:cNvPr id="41" name="S4c3"/>
          <p:cNvSpPr/>
          <p:nvPr/>
        </p:nvSpPr>
        <p:spPr>
          <a:xfrm>
            <a:off x="8549640" y="521208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Uncertain outcomes</a:t>
            </a:r>
            <a:endParaRPr lang="en-US" sz="1800" dirty="0"/>
          </a:p>
        </p:txBody>
      </p:sp>
      <p:sp>
        <p:nvSpPr>
          <p:cNvPr id="42" name="S4key"/>
          <p:cNvSpPr txBox="1"/>
          <p:nvPr/>
        </p:nvSpPr>
        <p:spPr>
          <a:xfrm>
            <a:off x="5760720" y="5925312"/>
            <a:ext cx="5669280" cy="640080"/>
          </a:xfrm>
          <a:prstGeom prst="rect">
            <a:avLst/>
          </a:prstGeom>
          <a:noFill/>
          <a:ln/>
        </p:spPr>
        <p:txBody>
          <a:bodyPr wrap="square" lIns="0" tIns="0" rIns="0" bIns="0" rtlCol="0" anchor="t"/>
          <a:lstStyle/>
          <a:p>
            <a:pPr marL="0" indent="0">
              <a:buNone/>
            </a:pPr>
            <a:r>
              <a:rPr lang="en-US" sz="2000" b="1" dirty="0">
                <a:solidFill>
                  <a:schemeClr val="accent5"/>
                </a:solidFill>
                <a:latin typeface="Dubai" panose="020B0503030403030204" pitchFamily="34" charset="-78"/>
                <a:cs typeface="Dubai" panose="020B0503030403030204" pitchFamily="34" charset="-78"/>
              </a:rPr>
              <a:t>Make every decision better informed and every visit more useful.</a:t>
            </a:r>
            <a:endParaRPr lang="en-US" sz="2000" dirty="0">
              <a:latin typeface="Dubai" panose="020B0503030403030204" pitchFamily="34" charset="-78"/>
              <a:cs typeface="Dubai" panose="020B0503030403030204" pitchFamily="34" charset="-78"/>
            </a:endParaRPr>
          </a:p>
        </p:txBody>
      </p:sp>
      <p:sp>
        <p:nvSpPr>
          <p:cNvPr id="15" name="!!HeroFrame"/>
          <p:cNvSpPr/>
          <p:nvPr/>
        </p:nvSpPr>
        <p:spPr>
          <a:xfrm>
            <a:off x="5760720" y="1371600"/>
            <a:ext cx="5760000" cy="3240000"/>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w="12700">
            <a:solidFill>
              <a:schemeClr val="accent4"/>
            </a:solidFill>
            <a:prstDash val="dash"/>
          </a:ln>
        </p:spPr>
        <p:txBody>
          <a:bodyPr/>
          <a:lstStyle/>
          <a:p>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300"/>
                                        <p:tgtEl>
                                          <p:spTgt spid="38"/>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300"/>
                                        <p:tgtEl>
                                          <p:spTgt spid="39"/>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300"/>
                                        <p:tgtEl>
                                          <p:spTgt spid="40"/>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300"/>
                                        <p:tgtEl>
                                          <p:spTgt spid="41"/>
                                        </p:tgtEl>
                                      </p:cBhvr>
                                    </p:animEffect>
                                  </p:childTnLst>
                                </p:cTn>
                              </p:par>
                              <p:par>
                                <p:cTn id="17" presetID="10" presetClass="entr" presetSubtype="0" fill="hold" grpId="0" nodeType="withEffect">
                                  <p:stCondLst>
                                    <p:cond delay="48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6" name="!!MediaPlay"/>
          <p:cNvSpPr/>
          <p:nvPr/>
        </p:nvSpPr>
        <p:spPr>
          <a:xfrm>
            <a:off x="8138160" y="2548890"/>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412480" y="2795778"/>
            <a:ext cx="237744" cy="237744"/>
          </a:xfrm>
          <a:prstGeom prst="triangle">
            <a:avLst/>
          </a:prstGeom>
          <a:solidFill>
            <a:schemeClr val="bg1"/>
          </a:solidFill>
          <a:ln/>
        </p:spPr>
        <p:txBody>
          <a:bodyPr/>
          <a:lstStyle/>
          <a:p>
            <a:endParaRPr lang="en-IN"/>
          </a:p>
        </p:txBody>
      </p:sp>
      <p:sp>
        <p:nvSpPr>
          <p:cNvPr id="18" name="!!MediaLabel"/>
          <p:cNvSpPr txBox="1"/>
          <p:nvPr/>
        </p:nvSpPr>
        <p:spPr>
          <a:xfrm>
            <a:off x="5943600" y="1508760"/>
            <a:ext cx="5120640" cy="320040"/>
          </a:xfrm>
          <a:prstGeom prst="rect">
            <a:avLst/>
          </a:prstGeom>
          <a:noFill/>
          <a:ln/>
        </p:spPr>
        <p:txBody>
          <a:bodyPr wrap="square" lIns="0" tIns="0" rIns="0" bIns="0" rtlCol="0" anchor="t"/>
          <a:lstStyle/>
          <a:p>
            <a:pPr marL="0" indent="0">
              <a:buNone/>
            </a:pPr>
            <a:endParaRPr lang="en-US" sz="1600" dirty="0"/>
          </a:p>
        </p:txBody>
      </p:sp>
      <p:sp>
        <p:nvSpPr>
          <p:cNvPr id="19" name="!!MediaHint"/>
          <p:cNvSpPr txBox="1"/>
          <p:nvPr/>
        </p:nvSpPr>
        <p:spPr>
          <a:xfrm>
            <a:off x="5943600" y="4046220"/>
            <a:ext cx="5120640" cy="274320"/>
          </a:xfrm>
          <a:prstGeom prst="rect">
            <a:avLst/>
          </a:prstGeom>
          <a:noFill/>
          <a:ln/>
        </p:spPr>
        <p:txBody>
          <a:bodyPr wrap="square" lIns="0" tIns="0" rIns="0" bIns="0" rtlCol="0" anchor="t"/>
          <a:lstStyle/>
          <a:p>
            <a:pPr marL="0" indent="0">
              <a:buNone/>
            </a:pPr>
            <a:endParaRPr lang="en-US" sz="1600" dirty="0"/>
          </a:p>
        </p:txBody>
      </p:sp>
      <p:sp>
        <p:nvSpPr>
          <p:cNvPr id="20" name="!!Item0"/>
          <p:cNvSpPr txBox="1"/>
          <p:nvPr/>
        </p:nvSpPr>
        <p:spPr>
          <a:xfrm rot="19560000">
            <a:off x="362538" y="751448"/>
            <a:ext cx="2194560" cy="548640"/>
          </a:xfrm>
          <a:prstGeom prst="rect">
            <a:avLst/>
          </a:prstGeom>
          <a:noFill/>
          <a:ln/>
        </p:spPr>
        <p:txBody>
          <a:bodyPr wrap="none" lIns="0" tIns="0" rIns="0" bIns="0" rtlCol="0" anchor="ctr"/>
          <a:lstStyle/>
          <a:p>
            <a:pPr marL="0" indent="0">
              <a:buNone/>
            </a:pPr>
            <a:r>
              <a:rPr lang="en-US" sz="2400" dirty="0">
                <a:solidFill>
                  <a:schemeClr val="accent4"/>
                </a:solidFill>
              </a:rPr>
              <a:t>Incident</a:t>
            </a:r>
            <a:endParaRPr lang="en-US" sz="2400" dirty="0"/>
          </a:p>
        </p:txBody>
      </p:sp>
      <p:sp>
        <p:nvSpPr>
          <p:cNvPr id="21" name="!!Item1"/>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Problem</a:t>
            </a:r>
            <a:endParaRPr lang="en-US" sz="2400" dirty="0"/>
          </a:p>
        </p:txBody>
      </p:sp>
      <p:sp>
        <p:nvSpPr>
          <p:cNvPr id="22" name="!!Item2"/>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Twin</a:t>
            </a:r>
            <a:endParaRPr lang="en-US" sz="3000" dirty="0"/>
          </a:p>
        </p:txBody>
      </p:sp>
      <p:sp>
        <p:nvSpPr>
          <p:cNvPr id="23" name="!!Item3"/>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Cost</a:t>
            </a:r>
            <a:endParaRPr lang="en-US" sz="2400" dirty="0"/>
          </a:p>
        </p:txBody>
      </p:sp>
      <p:sp>
        <p:nvSpPr>
          <p:cNvPr id="24" name="!!Item4"/>
          <p:cNvSpPr txBox="1"/>
          <p:nvPr/>
        </p:nvSpPr>
        <p:spPr>
          <a:xfrm rot="2040000">
            <a:off x="362538" y="5557912"/>
            <a:ext cx="2194560" cy="548640"/>
          </a:xfrm>
          <a:prstGeom prst="rect">
            <a:avLst/>
          </a:prstGeom>
          <a:noFill/>
          <a:ln/>
        </p:spPr>
        <p:txBody>
          <a:bodyPr wrap="none" lIns="0" tIns="0" rIns="0" bIns="0" rtlCol="0" anchor="ctr"/>
          <a:lstStyle/>
          <a:p>
            <a:pPr marL="0" indent="0">
              <a:buNone/>
            </a:pPr>
            <a:r>
              <a:rPr lang="en-US" sz="2400" dirty="0">
                <a:solidFill>
                  <a:schemeClr val="accent4"/>
                </a:solidFill>
              </a:rPr>
              <a:t>Bench</a:t>
            </a:r>
            <a:endParaRPr lang="en-US" sz="2400" dirty="0"/>
          </a:p>
        </p:txBody>
      </p:sp>
      <p:sp>
        <p:nvSpPr>
          <p:cNvPr id="25" name="!!Item5"/>
          <p:cNvSpPr txBox="1"/>
          <p:nvPr/>
        </p:nvSpPr>
        <p:spPr>
          <a:xfrm rot="3060000">
            <a:off x="-495782" y="649460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Job</a:t>
            </a:r>
            <a:endParaRPr lang="en-US" sz="2400" dirty="0"/>
          </a:p>
        </p:txBody>
      </p:sp>
      <p:sp>
        <p:nvSpPr>
          <p:cNvPr id="26" name="!!Item6"/>
          <p:cNvSpPr txBox="1"/>
          <p:nvPr/>
        </p:nvSpPr>
        <p:spPr>
          <a:xfrm rot="4080000">
            <a:off x="-1590461" y="713942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Next</a:t>
            </a:r>
            <a:endParaRPr lang="en-US" sz="2400" dirty="0"/>
          </a:p>
        </p:txBody>
      </p:sp>
      <p:sp>
        <p:nvSpPr>
          <p:cNvPr id="27" name="!!Item7"/>
          <p:cNvSpPr txBox="1"/>
          <p:nvPr/>
        </p:nvSpPr>
        <p:spPr>
          <a:xfrm rot="5100000">
            <a:off x="-2825833" y="743600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Close</a:t>
            </a:r>
            <a:endParaRPr lang="en-US" sz="2400" dirty="0"/>
          </a:p>
        </p:txBody>
      </p:sp>
      <p:sp>
        <p:nvSpPr>
          <p:cNvPr id="28" name="!!Hit0">
            <a:hlinkClick r:id="rId3" action="ppaction://hlinksldjump" tooltip="Go to Incident"/>
          </p:cNvPr>
          <p:cNvSpPr/>
          <p:nvPr/>
        </p:nvSpPr>
        <p:spPr>
          <a:xfrm rot="19560000">
            <a:off x="362538" y="751448"/>
            <a:ext cx="2194560" cy="548640"/>
          </a:xfrm>
          <a:prstGeom prst="rect">
            <a:avLst/>
          </a:prstGeom>
          <a:solidFill>
            <a:schemeClr val="tx1">
              <a:alpha val="0"/>
            </a:schemeClr>
          </a:solidFill>
          <a:ln/>
        </p:spPr>
        <p:txBody>
          <a:bodyPr/>
          <a:lstStyle/>
          <a:p>
            <a:endParaRPr lang="en-IN"/>
          </a:p>
        </p:txBody>
      </p:sp>
      <p:sp>
        <p:nvSpPr>
          <p:cNvPr id="29" name="!!Hit1">
            <a:hlinkClick r:id="rId4" action="ppaction://hlinksldjump" tooltip="Go to Problem"/>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30" name="!!Hit2">
            <a:hlinkClick r:id="rId5" action="ppaction://hlinksldjump" tooltip="Go to Twin"/>
          </p:cNvPr>
          <p:cNvSpPr/>
          <p:nvPr/>
        </p:nvSpPr>
        <p:spPr>
          <a:xfrm>
            <a:off x="1097280" y="3154680"/>
            <a:ext cx="2194560" cy="548640"/>
          </a:xfrm>
          <a:prstGeom prst="rect">
            <a:avLst/>
          </a:prstGeom>
          <a:solidFill>
            <a:schemeClr val="tx1">
              <a:alpha val="0"/>
            </a:schemeClr>
          </a:solidFill>
          <a:ln/>
        </p:spPr>
        <p:txBody>
          <a:bodyPr/>
          <a:lstStyle/>
          <a:p>
            <a:endParaRPr lang="en-IN"/>
          </a:p>
        </p:txBody>
      </p:sp>
      <p:sp>
        <p:nvSpPr>
          <p:cNvPr id="31" name="!!Hit3">
            <a:hlinkClick r:id="rId6" action="ppaction://hlinksldjump" tooltip="Go to Cost"/>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2" name="!!Hit4">
            <a:hlinkClick r:id="rId7" action="ppaction://hlinksldjump" tooltip="Go to Bench"/>
          </p:cNvPr>
          <p:cNvSpPr/>
          <p:nvPr/>
        </p:nvSpPr>
        <p:spPr>
          <a:xfrm rot="2040000">
            <a:off x="362538" y="5557912"/>
            <a:ext cx="2194560" cy="548640"/>
          </a:xfrm>
          <a:prstGeom prst="rect">
            <a:avLst/>
          </a:prstGeom>
          <a:solidFill>
            <a:schemeClr val="tx1">
              <a:alpha val="0"/>
            </a:schemeClr>
          </a:solidFill>
          <a:ln/>
        </p:spPr>
        <p:txBody>
          <a:bodyPr/>
          <a:lstStyle/>
          <a:p>
            <a:endParaRPr lang="en-IN"/>
          </a:p>
        </p:txBody>
      </p:sp>
      <p:sp>
        <p:nvSpPr>
          <p:cNvPr id="33" name="!!Hit5">
            <a:hlinkClick r:id="rId8" action="ppaction://hlinksldjump" tooltip="Go to Job"/>
          </p:cNvPr>
          <p:cNvSpPr/>
          <p:nvPr/>
        </p:nvSpPr>
        <p:spPr>
          <a:xfrm rot="3060000">
            <a:off x="-495782" y="6494605"/>
            <a:ext cx="2194560" cy="548640"/>
          </a:xfrm>
          <a:prstGeom prst="rect">
            <a:avLst/>
          </a:prstGeom>
          <a:solidFill>
            <a:schemeClr val="tx1">
              <a:alpha val="0"/>
            </a:schemeClr>
          </a:solidFill>
          <a:ln/>
        </p:spPr>
        <p:txBody>
          <a:bodyPr/>
          <a:lstStyle/>
          <a:p>
            <a:endParaRPr lang="en-IN"/>
          </a:p>
        </p:txBody>
      </p:sp>
      <p:sp>
        <p:nvSpPr>
          <p:cNvPr id="34" name="!!Hit6">
            <a:hlinkClick r:id="rId9" action="ppaction://hlinksldjump" tooltip="Go to Next"/>
          </p:cNvPr>
          <p:cNvSpPr/>
          <p:nvPr/>
        </p:nvSpPr>
        <p:spPr>
          <a:xfrm rot="4080000">
            <a:off x="-1590461" y="7139420"/>
            <a:ext cx="2194560" cy="548640"/>
          </a:xfrm>
          <a:prstGeom prst="rect">
            <a:avLst/>
          </a:prstGeom>
          <a:solidFill>
            <a:schemeClr val="tx1">
              <a:alpha val="0"/>
            </a:schemeClr>
          </a:solidFill>
          <a:ln/>
        </p:spPr>
        <p:txBody>
          <a:bodyPr/>
          <a:lstStyle/>
          <a:p>
            <a:endParaRPr lang="en-IN"/>
          </a:p>
        </p:txBody>
      </p:sp>
      <p:sp>
        <p:nvSpPr>
          <p:cNvPr id="35" name="!!Hit7">
            <a:hlinkClick r:id="rId10" action="ppaction://hlinksldjump" tooltip="Go to Close"/>
          </p:cNvPr>
          <p:cNvSpPr/>
          <p:nvPr/>
        </p:nvSpPr>
        <p:spPr>
          <a:xfrm rot="5100000">
            <a:off x="-2825833" y="7436006"/>
            <a:ext cx="2194560" cy="548640"/>
          </a:xfrm>
          <a:prstGeom prst="rect">
            <a:avLst/>
          </a:prstGeom>
          <a:solidFill>
            <a:schemeClr val="tx1">
              <a:alpha val="0"/>
            </a:schemeClr>
          </a:solidFill>
          <a:ln/>
        </p:spPr>
        <p:txBody>
          <a:bodyPr/>
          <a:lstStyle/>
          <a:p>
            <a:endParaRPr lang="en-IN"/>
          </a:p>
        </p:txBody>
      </p:sp>
      <p:sp>
        <p:nvSpPr>
          <p:cNvPr id="36"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7" name="!!PitchTitle"/>
          <p:cNvSpPr txBox="1"/>
          <p:nvPr/>
        </p:nvSpPr>
        <p:spPr>
          <a:xfrm>
            <a:off x="5760720" y="320040"/>
            <a:ext cx="5669280" cy="960120"/>
          </a:xfrm>
          <a:prstGeom prst="rect">
            <a:avLst/>
          </a:prstGeom>
          <a:noFill/>
          <a:ln/>
        </p:spPr>
        <p:txBody>
          <a:bodyPr wrap="square" lIns="0" tIns="0" rIns="0" bIns="0" rtlCol="0" anchor="t"/>
          <a:lstStyle/>
          <a:p>
            <a:pPr marL="0" indent="0">
              <a:buNone/>
            </a:pPr>
            <a:r>
              <a:rPr lang="en-US" sz="3000" b="1" dirty="0">
                <a:solidFill>
                  <a:schemeClr val="bg1"/>
                </a:solidFill>
                <a:latin typeface="Dubai" panose="020B0503030403030204" pitchFamily="34" charset="-78"/>
                <a:cs typeface="Dubai" panose="020B0503030403030204" pitchFamily="34" charset="-78"/>
              </a:rPr>
              <a:t>A twin that predicts</a:t>
            </a:r>
            <a:endParaRPr lang="en-US" sz="3000" dirty="0">
              <a:latin typeface="Dubai" panose="020B0503030403030204" pitchFamily="34" charset="-78"/>
              <a:cs typeface="Dubai" panose="020B0503030403030204" pitchFamily="34" charset="-78"/>
            </a:endParaRPr>
          </a:p>
          <a:p>
            <a:pPr marL="0" indent="0">
              <a:buNone/>
            </a:pPr>
            <a:r>
              <a:rPr lang="en-US" sz="3000" b="1" dirty="0">
                <a:solidFill>
                  <a:schemeClr val="bg1"/>
                </a:solidFill>
                <a:latin typeface="Dubai" panose="020B0503030403030204" pitchFamily="34" charset="-78"/>
                <a:cs typeface="Dubai" panose="020B0503030403030204" pitchFamily="34" charset="-78"/>
              </a:rPr>
              <a:t>the effect of an action</a:t>
            </a:r>
            <a:endParaRPr lang="en-US" sz="3000" dirty="0">
              <a:latin typeface="Dubai" panose="020B0503030403030204" pitchFamily="34" charset="-78"/>
              <a:cs typeface="Dubai" panose="020B0503030403030204" pitchFamily="34" charset="-78"/>
            </a:endParaRPr>
          </a:p>
        </p:txBody>
      </p:sp>
      <p:sp>
        <p:nvSpPr>
          <p:cNvPr id="38" name="S5c0"/>
          <p:cNvSpPr/>
          <p:nvPr/>
        </p:nvSpPr>
        <p:spPr>
          <a:xfrm>
            <a:off x="5760720" y="481743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bg1"/>
                </a:solidFill>
              </a:rPr>
              <a:t>1  Update state</a:t>
            </a:r>
            <a:endParaRPr lang="en-US" sz="1800" dirty="0"/>
          </a:p>
        </p:txBody>
      </p:sp>
      <p:sp>
        <p:nvSpPr>
          <p:cNvPr id="39" name="S5c1"/>
          <p:cNvSpPr/>
          <p:nvPr/>
        </p:nvSpPr>
        <p:spPr>
          <a:xfrm>
            <a:off x="8549640" y="481743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bg1"/>
                </a:solidFill>
              </a:rPr>
              <a:t>2  Compare actions</a:t>
            </a:r>
            <a:endParaRPr lang="en-US" sz="1800" dirty="0"/>
          </a:p>
        </p:txBody>
      </p:sp>
      <p:sp>
        <p:nvSpPr>
          <p:cNvPr id="40" name="S5c2"/>
          <p:cNvSpPr/>
          <p:nvPr/>
        </p:nvSpPr>
        <p:spPr>
          <a:xfrm>
            <a:off x="5760719" y="536031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bg1"/>
                </a:solidFill>
              </a:rPr>
              <a:t>3  Save forecast</a:t>
            </a:r>
            <a:endParaRPr lang="en-US" sz="1800" dirty="0"/>
          </a:p>
        </p:txBody>
      </p:sp>
      <p:sp>
        <p:nvSpPr>
          <p:cNvPr id="41" name="S5c3"/>
          <p:cNvSpPr/>
          <p:nvPr/>
        </p:nvSpPr>
        <p:spPr>
          <a:xfrm>
            <a:off x="8549640" y="536031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bg1"/>
                </a:solidFill>
              </a:rPr>
              <a:t>4  Check later data</a:t>
            </a:r>
            <a:endParaRPr lang="en-US" sz="1800" dirty="0"/>
          </a:p>
        </p:txBody>
      </p:sp>
      <p:sp>
        <p:nvSpPr>
          <p:cNvPr id="42" name="S5key"/>
          <p:cNvSpPr txBox="1"/>
          <p:nvPr/>
        </p:nvSpPr>
        <p:spPr>
          <a:xfrm>
            <a:off x="5760720" y="5925312"/>
            <a:ext cx="5669280" cy="640080"/>
          </a:xfrm>
          <a:prstGeom prst="rect">
            <a:avLst/>
          </a:prstGeom>
          <a:noFill/>
          <a:ln/>
        </p:spPr>
        <p:txBody>
          <a:bodyPr wrap="square" lIns="0" tIns="0" rIns="0" bIns="0" rtlCol="0" anchor="t"/>
          <a:lstStyle/>
          <a:p>
            <a:pPr marL="0" indent="0">
              <a:buNone/>
            </a:pPr>
            <a:r>
              <a:rPr lang="en-US" sz="2000" b="1" dirty="0">
                <a:solidFill>
                  <a:schemeClr val="accent5"/>
                </a:solidFill>
                <a:latin typeface="Dubai" panose="020B0503030403030204" pitchFamily="34" charset="-78"/>
                <a:cs typeface="Dubai" panose="020B0503030403030204" pitchFamily="34" charset="-78"/>
              </a:rPr>
              <a:t>Every value shows its source and freshness.</a:t>
            </a:r>
            <a:endParaRPr lang="en-US" sz="2000" dirty="0">
              <a:latin typeface="Dubai" panose="020B0503030403030204" pitchFamily="34" charset="-78"/>
              <a:cs typeface="Dubai" panose="020B0503030403030204" pitchFamily="34" charset="-78"/>
            </a:endParaRPr>
          </a:p>
        </p:txBody>
      </p:sp>
      <p:sp>
        <p:nvSpPr>
          <p:cNvPr id="15" name="!!HeroFrame"/>
          <p:cNvSpPr>
            <a:spLocks noGrp="1" noRot="1" noMove="1" noResize="1" noEditPoints="1" noAdjustHandles="1" noChangeArrowheads="1" noChangeShapeType="1"/>
          </p:cNvSpPr>
          <p:nvPr/>
        </p:nvSpPr>
        <p:spPr>
          <a:xfrm>
            <a:off x="5760720" y="1371600"/>
            <a:ext cx="5760000" cy="3240000"/>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w="12700">
            <a:solidFill>
              <a:schemeClr val="accent4"/>
            </a:solidFill>
            <a:prstDash val="dash"/>
          </a:ln>
        </p:spPr>
        <p:txBody>
          <a:bodyPr/>
          <a:lstStyle/>
          <a:p>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300"/>
                                        <p:tgtEl>
                                          <p:spTgt spid="38"/>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300"/>
                                        <p:tgtEl>
                                          <p:spTgt spid="39"/>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300"/>
                                        <p:tgtEl>
                                          <p:spTgt spid="40"/>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300"/>
                                        <p:tgtEl>
                                          <p:spTgt spid="41"/>
                                        </p:tgtEl>
                                      </p:cBhvr>
                                    </p:animEffect>
                                  </p:childTnLst>
                                </p:cTn>
                              </p:par>
                              <p:par>
                                <p:cTn id="17" presetID="10" presetClass="entr" presetSubtype="0" fill="hold" grpId="0" nodeType="withEffect">
                                  <p:stCondLst>
                                    <p:cond delay="48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5" name="!!HeroFrame"/>
          <p:cNvSpPr/>
          <p:nvPr/>
        </p:nvSpPr>
        <p:spPr>
          <a:xfrm>
            <a:off x="5760720" y="1371600"/>
            <a:ext cx="5760000" cy="3240000"/>
          </a:xfrm>
          <a:prstGeom prst="rect">
            <a:avLst/>
          </a:prstGeom>
          <a:solidFill>
            <a:schemeClr val="accent1"/>
          </a:solidFill>
          <a:ln w="12700">
            <a:solidFill>
              <a:schemeClr val="accent4"/>
            </a:solidFill>
            <a:prstDash val="dash"/>
          </a:ln>
        </p:spPr>
        <p:txBody>
          <a:bodyPr/>
          <a:lstStyle/>
          <a:p>
            <a:endParaRPr lang="en-IN"/>
          </a:p>
        </p:txBody>
      </p:sp>
      <p:sp>
        <p:nvSpPr>
          <p:cNvPr id="16" name="!!MediaPlay"/>
          <p:cNvSpPr/>
          <p:nvPr/>
        </p:nvSpPr>
        <p:spPr>
          <a:xfrm>
            <a:off x="8138160" y="2548890"/>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412480" y="2795778"/>
            <a:ext cx="237744" cy="237744"/>
          </a:xfrm>
          <a:prstGeom prst="triangle">
            <a:avLst/>
          </a:prstGeom>
          <a:solidFill>
            <a:schemeClr val="bg1"/>
          </a:solidFill>
          <a:ln/>
        </p:spPr>
        <p:txBody>
          <a:bodyPr/>
          <a:lstStyle/>
          <a:p>
            <a:endParaRPr lang="en-IN"/>
          </a:p>
        </p:txBody>
      </p:sp>
      <p:sp>
        <p:nvSpPr>
          <p:cNvPr id="21" name="!!Item0"/>
          <p:cNvSpPr txBox="1"/>
          <p:nvPr/>
        </p:nvSpPr>
        <p:spPr>
          <a:xfrm rot="18540000">
            <a:off x="-495782" y="-1852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Incident</a:t>
            </a:r>
            <a:endParaRPr lang="en-US" sz="2400" dirty="0"/>
          </a:p>
        </p:txBody>
      </p:sp>
      <p:sp>
        <p:nvSpPr>
          <p:cNvPr id="22" name="!!Item1"/>
          <p:cNvSpPr txBox="1"/>
          <p:nvPr/>
        </p:nvSpPr>
        <p:spPr>
          <a:xfrm rot="19560000">
            <a:off x="362538" y="751448"/>
            <a:ext cx="2194560" cy="548640"/>
          </a:xfrm>
          <a:prstGeom prst="rect">
            <a:avLst/>
          </a:prstGeom>
          <a:noFill/>
          <a:ln/>
        </p:spPr>
        <p:txBody>
          <a:bodyPr wrap="none" lIns="0" tIns="0" rIns="0" bIns="0" rtlCol="0" anchor="ctr"/>
          <a:lstStyle/>
          <a:p>
            <a:pPr marL="0" indent="0">
              <a:buNone/>
            </a:pPr>
            <a:r>
              <a:rPr lang="en-US" sz="2400" dirty="0">
                <a:solidFill>
                  <a:schemeClr val="accent4"/>
                </a:solidFill>
              </a:rPr>
              <a:t>Problem</a:t>
            </a:r>
            <a:endParaRPr lang="en-US" sz="2400" dirty="0"/>
          </a:p>
        </p:txBody>
      </p:sp>
      <p:sp>
        <p:nvSpPr>
          <p:cNvPr id="23" name="!!Item2"/>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Twin</a:t>
            </a:r>
            <a:endParaRPr lang="en-US" sz="2400" dirty="0"/>
          </a:p>
        </p:txBody>
      </p:sp>
      <p:sp>
        <p:nvSpPr>
          <p:cNvPr id="24" name="!!Item3"/>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Cost</a:t>
            </a:r>
            <a:endParaRPr lang="en-US" sz="3000" dirty="0"/>
          </a:p>
        </p:txBody>
      </p:sp>
      <p:sp>
        <p:nvSpPr>
          <p:cNvPr id="25" name="!!Item4"/>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Bench</a:t>
            </a:r>
            <a:endParaRPr lang="en-US" sz="2400" dirty="0"/>
          </a:p>
        </p:txBody>
      </p:sp>
      <p:sp>
        <p:nvSpPr>
          <p:cNvPr id="26" name="!!Item5"/>
          <p:cNvSpPr txBox="1"/>
          <p:nvPr/>
        </p:nvSpPr>
        <p:spPr>
          <a:xfrm rot="2040000">
            <a:off x="362538" y="5557912"/>
            <a:ext cx="2194560" cy="548640"/>
          </a:xfrm>
          <a:prstGeom prst="rect">
            <a:avLst/>
          </a:prstGeom>
          <a:noFill/>
          <a:ln/>
        </p:spPr>
        <p:txBody>
          <a:bodyPr wrap="none" lIns="0" tIns="0" rIns="0" bIns="0" rtlCol="0" anchor="ctr"/>
          <a:lstStyle/>
          <a:p>
            <a:pPr marL="0" indent="0">
              <a:buNone/>
            </a:pPr>
            <a:r>
              <a:rPr lang="en-US" sz="2400" dirty="0">
                <a:solidFill>
                  <a:schemeClr val="accent4"/>
                </a:solidFill>
              </a:rPr>
              <a:t>Job</a:t>
            </a:r>
            <a:endParaRPr lang="en-US" sz="2400" dirty="0"/>
          </a:p>
        </p:txBody>
      </p:sp>
      <p:sp>
        <p:nvSpPr>
          <p:cNvPr id="27" name="!!Item6"/>
          <p:cNvSpPr txBox="1"/>
          <p:nvPr/>
        </p:nvSpPr>
        <p:spPr>
          <a:xfrm rot="3060000">
            <a:off x="-495782" y="649460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Next</a:t>
            </a:r>
            <a:endParaRPr lang="en-US" sz="2400" dirty="0"/>
          </a:p>
        </p:txBody>
      </p:sp>
      <p:sp>
        <p:nvSpPr>
          <p:cNvPr id="28" name="!!Item7"/>
          <p:cNvSpPr txBox="1"/>
          <p:nvPr/>
        </p:nvSpPr>
        <p:spPr>
          <a:xfrm rot="4080000">
            <a:off x="-1590461" y="713942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Close</a:t>
            </a:r>
            <a:endParaRPr lang="en-US" sz="2400" dirty="0"/>
          </a:p>
        </p:txBody>
      </p:sp>
      <p:sp>
        <p:nvSpPr>
          <p:cNvPr id="29" name="!!Hit0">
            <a:hlinkClick r:id="rId3" action="ppaction://hlinksldjump" tooltip="Go to Incident"/>
          </p:cNvPr>
          <p:cNvSpPr/>
          <p:nvPr/>
        </p:nvSpPr>
        <p:spPr>
          <a:xfrm rot="18540000">
            <a:off x="-495782" y="-185245"/>
            <a:ext cx="2194560" cy="548640"/>
          </a:xfrm>
          <a:prstGeom prst="rect">
            <a:avLst/>
          </a:prstGeom>
          <a:solidFill>
            <a:schemeClr val="tx1">
              <a:alpha val="0"/>
            </a:schemeClr>
          </a:solidFill>
          <a:ln/>
        </p:spPr>
        <p:txBody>
          <a:bodyPr/>
          <a:lstStyle/>
          <a:p>
            <a:endParaRPr lang="en-IN"/>
          </a:p>
        </p:txBody>
      </p:sp>
      <p:sp>
        <p:nvSpPr>
          <p:cNvPr id="30" name="!!Hit1">
            <a:hlinkClick r:id="rId4" action="ppaction://hlinksldjump" tooltip="Go to Problem"/>
          </p:cNvPr>
          <p:cNvSpPr/>
          <p:nvPr/>
        </p:nvSpPr>
        <p:spPr>
          <a:xfrm rot="19560000">
            <a:off x="362538" y="751448"/>
            <a:ext cx="2194560" cy="548640"/>
          </a:xfrm>
          <a:prstGeom prst="rect">
            <a:avLst/>
          </a:prstGeom>
          <a:solidFill>
            <a:schemeClr val="tx1">
              <a:alpha val="0"/>
            </a:schemeClr>
          </a:solidFill>
          <a:ln/>
        </p:spPr>
        <p:txBody>
          <a:bodyPr/>
          <a:lstStyle/>
          <a:p>
            <a:endParaRPr lang="en-IN"/>
          </a:p>
        </p:txBody>
      </p:sp>
      <p:sp>
        <p:nvSpPr>
          <p:cNvPr id="31" name="!!Hit2">
            <a:hlinkClick r:id="rId5" action="ppaction://hlinksldjump" tooltip="Go to Twin"/>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32" name="!!Hit3">
            <a:hlinkClick r:id="rId6" action="ppaction://hlinksldjump" tooltip="Go to Cost"/>
          </p:cNvPr>
          <p:cNvSpPr/>
          <p:nvPr/>
        </p:nvSpPr>
        <p:spPr>
          <a:xfrm>
            <a:off x="1097280" y="3154680"/>
            <a:ext cx="2194560" cy="548640"/>
          </a:xfrm>
          <a:prstGeom prst="rect">
            <a:avLst/>
          </a:prstGeom>
          <a:solidFill>
            <a:schemeClr val="tx1">
              <a:alpha val="0"/>
            </a:schemeClr>
          </a:solidFill>
          <a:ln/>
        </p:spPr>
        <p:txBody>
          <a:bodyPr/>
          <a:lstStyle/>
          <a:p>
            <a:endParaRPr lang="en-IN"/>
          </a:p>
        </p:txBody>
      </p:sp>
      <p:sp>
        <p:nvSpPr>
          <p:cNvPr id="33" name="!!Hit4">
            <a:hlinkClick r:id="rId7" action="ppaction://hlinksldjump" tooltip="Go to Bench"/>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4" name="!!Hit5">
            <a:hlinkClick r:id="rId8" action="ppaction://hlinksldjump" tooltip="Go to Job"/>
          </p:cNvPr>
          <p:cNvSpPr/>
          <p:nvPr/>
        </p:nvSpPr>
        <p:spPr>
          <a:xfrm rot="2040000">
            <a:off x="362538" y="5557912"/>
            <a:ext cx="2194560" cy="548640"/>
          </a:xfrm>
          <a:prstGeom prst="rect">
            <a:avLst/>
          </a:prstGeom>
          <a:solidFill>
            <a:schemeClr val="tx1">
              <a:alpha val="0"/>
            </a:schemeClr>
          </a:solidFill>
          <a:ln/>
        </p:spPr>
        <p:txBody>
          <a:bodyPr/>
          <a:lstStyle/>
          <a:p>
            <a:endParaRPr lang="en-IN"/>
          </a:p>
        </p:txBody>
      </p:sp>
      <p:sp>
        <p:nvSpPr>
          <p:cNvPr id="35" name="!!Hit6">
            <a:hlinkClick r:id="rId9" action="ppaction://hlinksldjump" tooltip="Go to Next"/>
          </p:cNvPr>
          <p:cNvSpPr/>
          <p:nvPr/>
        </p:nvSpPr>
        <p:spPr>
          <a:xfrm rot="3060000">
            <a:off x="-495782" y="6494605"/>
            <a:ext cx="2194560" cy="548640"/>
          </a:xfrm>
          <a:prstGeom prst="rect">
            <a:avLst/>
          </a:prstGeom>
          <a:solidFill>
            <a:schemeClr val="tx1">
              <a:alpha val="0"/>
            </a:schemeClr>
          </a:solidFill>
          <a:ln/>
        </p:spPr>
        <p:txBody>
          <a:bodyPr/>
          <a:lstStyle/>
          <a:p>
            <a:endParaRPr lang="en-IN"/>
          </a:p>
        </p:txBody>
      </p:sp>
      <p:sp>
        <p:nvSpPr>
          <p:cNvPr id="36" name="!!Hit7">
            <a:hlinkClick r:id="rId10" action="ppaction://hlinksldjump" tooltip="Go to Close"/>
          </p:cNvPr>
          <p:cNvSpPr/>
          <p:nvPr/>
        </p:nvSpPr>
        <p:spPr>
          <a:xfrm rot="4080000">
            <a:off x="-1590461" y="7139420"/>
            <a:ext cx="2194560" cy="548640"/>
          </a:xfrm>
          <a:prstGeom prst="rect">
            <a:avLst/>
          </a:prstGeom>
          <a:solidFill>
            <a:schemeClr val="tx1">
              <a:alpha val="0"/>
            </a:schemeClr>
          </a:solidFill>
          <a:ln/>
        </p:spPr>
        <p:txBody>
          <a:bodyPr/>
          <a:lstStyle/>
          <a:p>
            <a:endParaRPr lang="en-IN"/>
          </a:p>
        </p:txBody>
      </p:sp>
      <p:sp>
        <p:nvSpPr>
          <p:cNvPr id="37"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8" name="!!PitchTitle"/>
          <p:cNvSpPr txBox="1"/>
          <p:nvPr/>
        </p:nvSpPr>
        <p:spPr>
          <a:xfrm>
            <a:off x="5760720" y="320040"/>
            <a:ext cx="5669280" cy="960120"/>
          </a:xfrm>
          <a:prstGeom prst="rect">
            <a:avLst/>
          </a:prstGeom>
          <a:noFill/>
          <a:ln/>
        </p:spPr>
        <p:txBody>
          <a:bodyPr wrap="square" lIns="0" tIns="0" rIns="0" bIns="0" rtlCol="0" anchor="t"/>
          <a:lstStyle/>
          <a:p>
            <a:pPr marL="0" indent="0">
              <a:buNone/>
            </a:pPr>
            <a:r>
              <a:rPr lang="en-US" sz="3000" b="1" dirty="0">
                <a:solidFill>
                  <a:schemeClr val="bg1"/>
                </a:solidFill>
                <a:latin typeface="Dubai" panose="020B0503030403030204" pitchFamily="34" charset="-78"/>
                <a:cs typeface="Dubai" panose="020B0503030403030204" pitchFamily="34" charset="-78"/>
              </a:rPr>
              <a:t>Lower the cost of</a:t>
            </a:r>
            <a:endParaRPr lang="en-US" sz="3000" dirty="0">
              <a:latin typeface="Dubai" panose="020B0503030403030204" pitchFamily="34" charset="-78"/>
              <a:cs typeface="Dubai" panose="020B0503030403030204" pitchFamily="34" charset="-78"/>
            </a:endParaRPr>
          </a:p>
          <a:p>
            <a:pPr marL="0" indent="0">
              <a:buNone/>
            </a:pPr>
            <a:r>
              <a:rPr lang="en-US" sz="3000" b="1" dirty="0">
                <a:solidFill>
                  <a:schemeClr val="bg1"/>
                </a:solidFill>
                <a:latin typeface="Dubai" panose="020B0503030403030204" pitchFamily="34" charset="-78"/>
                <a:cs typeface="Dubai" panose="020B0503030403030204" pitchFamily="34" charset="-78"/>
              </a:rPr>
              <a:t>useful information</a:t>
            </a:r>
            <a:endParaRPr lang="en-US" sz="3000" dirty="0">
              <a:latin typeface="Dubai" panose="020B0503030403030204" pitchFamily="34" charset="-78"/>
              <a:cs typeface="Dubai" panose="020B0503030403030204" pitchFamily="34" charset="-78"/>
            </a:endParaRPr>
          </a:p>
        </p:txBody>
      </p:sp>
      <p:sp>
        <p:nvSpPr>
          <p:cNvPr id="39" name="S6c0"/>
          <p:cNvSpPr/>
          <p:nvPr/>
        </p:nvSpPr>
        <p:spPr>
          <a:xfrm>
            <a:off x="5760720" y="4726350"/>
            <a:ext cx="2617926"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Asset records → planning</a:t>
            </a:r>
            <a:endParaRPr lang="en-US" sz="1400" dirty="0"/>
          </a:p>
        </p:txBody>
      </p:sp>
      <p:sp>
        <p:nvSpPr>
          <p:cNvPr id="40" name="S6c1"/>
          <p:cNvSpPr/>
          <p:nvPr/>
        </p:nvSpPr>
        <p:spPr>
          <a:xfrm>
            <a:off x="8549640" y="4733712"/>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DT metering → screening</a:t>
            </a:r>
            <a:endParaRPr lang="en-US" sz="1400" dirty="0"/>
          </a:p>
        </p:txBody>
      </p:sp>
      <p:sp>
        <p:nvSpPr>
          <p:cNvPr id="41" name="S6c2"/>
          <p:cNvSpPr/>
          <p:nvPr/>
        </p:nvSpPr>
        <p:spPr>
          <a:xfrm>
            <a:off x="5760719" y="5316686"/>
            <a:ext cx="2617927" cy="385651"/>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Targeted sensing → validation</a:t>
            </a:r>
            <a:endParaRPr lang="en-US" sz="1400" dirty="0"/>
          </a:p>
        </p:txBody>
      </p:sp>
      <p:sp>
        <p:nvSpPr>
          <p:cNvPr id="42" name="S6c3"/>
          <p:cNvSpPr/>
          <p:nvPr/>
        </p:nvSpPr>
        <p:spPr>
          <a:xfrm>
            <a:off x="8531352" y="5316686"/>
            <a:ext cx="2520000" cy="385651"/>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Specialist tests → deep dives</a:t>
            </a:r>
            <a:endParaRPr lang="en-US" sz="1400" dirty="0"/>
          </a:p>
        </p:txBody>
      </p:sp>
      <p:sp>
        <p:nvSpPr>
          <p:cNvPr id="43" name="S6key"/>
          <p:cNvSpPr txBox="1"/>
          <p:nvPr/>
        </p:nvSpPr>
        <p:spPr>
          <a:xfrm>
            <a:off x="5760720" y="5925312"/>
            <a:ext cx="5669280" cy="640080"/>
          </a:xfrm>
          <a:prstGeom prst="rect">
            <a:avLst/>
          </a:prstGeom>
          <a:noFill/>
          <a:ln/>
        </p:spPr>
        <p:txBody>
          <a:bodyPr wrap="square" lIns="0" tIns="0" rIns="0" bIns="0" rtlCol="0" anchor="t"/>
          <a:lstStyle/>
          <a:p>
            <a:pPr marL="0" indent="0">
              <a:buNone/>
            </a:pPr>
            <a:r>
              <a:rPr lang="en-US" sz="2000" b="1" dirty="0">
                <a:solidFill>
                  <a:schemeClr val="accent5"/>
                </a:solidFill>
                <a:latin typeface="Dubai" panose="020B0503030403030204" pitchFamily="34" charset="-78"/>
                <a:cs typeface="Dubai" panose="020B0503030403030204" pitchFamily="34" charset="-78"/>
              </a:rPr>
              <a:t>Missing data never makes an asset look healthier.</a:t>
            </a:r>
            <a:endParaRPr lang="en-US" sz="2000" dirty="0">
              <a:latin typeface="Dubai" panose="020B0503030403030204" pitchFamily="34" charset="-78"/>
              <a:cs typeface="Dubai" panose="020B0503030403030204" pitchFamily="34" charset="-78"/>
            </a:endParaRPr>
          </a:p>
        </p:txBody>
      </p:sp>
      <p:pic>
        <p:nvPicPr>
          <p:cNvPr id="47" name="Picture 46">
            <a:extLst>
              <a:ext uri="{FF2B5EF4-FFF2-40B4-BE49-F238E27FC236}">
                <a16:creationId xmlns:a16="http://schemas.microsoft.com/office/drawing/2014/main" id="{1D047682-9580-9F5C-629E-6450AEFECE56}"/>
              </a:ext>
            </a:extLst>
          </p:cNvPr>
          <p:cNvPicPr>
            <a:picLocks noChangeAspect="1"/>
          </p:cNvPicPr>
          <p:nvPr/>
        </p:nvPicPr>
        <p:blipFill>
          <a:blip r:embed="rId11"/>
          <a:stretch>
            <a:fillRect/>
          </a:stretch>
        </p:blipFill>
        <p:spPr>
          <a:xfrm>
            <a:off x="5760720" y="1371600"/>
            <a:ext cx="5792179" cy="324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300"/>
                                        <p:tgtEl>
                                          <p:spTgt spid="39"/>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300"/>
                                        <p:tgtEl>
                                          <p:spTgt spid="40"/>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300"/>
                                        <p:tgtEl>
                                          <p:spTgt spid="41"/>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300"/>
                                        <p:tgtEl>
                                          <p:spTgt spid="42"/>
                                        </p:tgtEl>
                                      </p:cBhvr>
                                    </p:animEffect>
                                  </p:childTnLst>
                                </p:cTn>
                              </p:par>
                              <p:par>
                                <p:cTn id="17" presetID="10" presetClass="entr" presetSubtype="0" fill="hold" grpId="0" nodeType="withEffect">
                                  <p:stCondLst>
                                    <p:cond delay="48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3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6" name="!!MediaPlay"/>
          <p:cNvSpPr/>
          <p:nvPr/>
        </p:nvSpPr>
        <p:spPr>
          <a:xfrm>
            <a:off x="8138160" y="2823210"/>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412480" y="3070098"/>
            <a:ext cx="237744" cy="237744"/>
          </a:xfrm>
          <a:prstGeom prst="triangle">
            <a:avLst/>
          </a:prstGeom>
          <a:solidFill>
            <a:schemeClr val="bg1"/>
          </a:solidFill>
          <a:ln/>
        </p:spPr>
        <p:txBody>
          <a:bodyPr/>
          <a:lstStyle/>
          <a:p>
            <a:endParaRPr lang="en-IN"/>
          </a:p>
        </p:txBody>
      </p:sp>
      <p:sp>
        <p:nvSpPr>
          <p:cNvPr id="20" name="!!MediaHint"/>
          <p:cNvSpPr txBox="1"/>
          <p:nvPr/>
        </p:nvSpPr>
        <p:spPr>
          <a:xfrm>
            <a:off x="5943600" y="4320540"/>
            <a:ext cx="5120640" cy="274320"/>
          </a:xfrm>
          <a:prstGeom prst="rect">
            <a:avLst/>
          </a:prstGeom>
          <a:noFill/>
          <a:ln/>
        </p:spPr>
        <p:txBody>
          <a:bodyPr wrap="square" lIns="0" tIns="0" rIns="0" bIns="0" rtlCol="0" anchor="t"/>
          <a:lstStyle/>
          <a:p>
            <a:pPr marL="0" indent="0">
              <a:buNone/>
            </a:pPr>
            <a:endParaRPr lang="en-US" sz="1600" dirty="0"/>
          </a:p>
        </p:txBody>
      </p:sp>
      <p:sp>
        <p:nvSpPr>
          <p:cNvPr id="21" name="!!Item0"/>
          <p:cNvSpPr txBox="1"/>
          <p:nvPr/>
        </p:nvSpPr>
        <p:spPr>
          <a:xfrm rot="17520000">
            <a:off x="-1590461" y="-83006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Incident</a:t>
            </a:r>
            <a:endParaRPr lang="en-US" sz="2400" dirty="0"/>
          </a:p>
        </p:txBody>
      </p:sp>
      <p:sp>
        <p:nvSpPr>
          <p:cNvPr id="22" name="!!Item1"/>
          <p:cNvSpPr txBox="1"/>
          <p:nvPr/>
        </p:nvSpPr>
        <p:spPr>
          <a:xfrm rot="18540000">
            <a:off x="-495782" y="-1852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Problem</a:t>
            </a:r>
            <a:endParaRPr lang="en-US" sz="2400" dirty="0"/>
          </a:p>
        </p:txBody>
      </p:sp>
      <p:sp>
        <p:nvSpPr>
          <p:cNvPr id="23" name="!!Item2"/>
          <p:cNvSpPr txBox="1"/>
          <p:nvPr/>
        </p:nvSpPr>
        <p:spPr>
          <a:xfrm rot="19560000">
            <a:off x="362538" y="751448"/>
            <a:ext cx="2194560" cy="548640"/>
          </a:xfrm>
          <a:prstGeom prst="rect">
            <a:avLst/>
          </a:prstGeom>
          <a:noFill/>
          <a:ln/>
        </p:spPr>
        <p:txBody>
          <a:bodyPr wrap="none" lIns="0" tIns="0" rIns="0" bIns="0" rtlCol="0" anchor="ctr"/>
          <a:lstStyle/>
          <a:p>
            <a:pPr marL="0" indent="0">
              <a:buNone/>
            </a:pPr>
            <a:r>
              <a:rPr lang="en-US" sz="2400" dirty="0">
                <a:solidFill>
                  <a:schemeClr val="accent4"/>
                </a:solidFill>
              </a:rPr>
              <a:t>Twin</a:t>
            </a:r>
            <a:endParaRPr lang="en-US" sz="2400" dirty="0"/>
          </a:p>
        </p:txBody>
      </p:sp>
      <p:sp>
        <p:nvSpPr>
          <p:cNvPr id="24" name="!!Item3"/>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Cost</a:t>
            </a:r>
            <a:endParaRPr lang="en-US" sz="2400" dirty="0"/>
          </a:p>
        </p:txBody>
      </p:sp>
      <p:sp>
        <p:nvSpPr>
          <p:cNvPr id="25" name="!!Item4"/>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Bench</a:t>
            </a:r>
            <a:endParaRPr lang="en-US" sz="3000" dirty="0"/>
          </a:p>
        </p:txBody>
      </p:sp>
      <p:sp>
        <p:nvSpPr>
          <p:cNvPr id="26" name="!!Item5"/>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Job</a:t>
            </a:r>
            <a:endParaRPr lang="en-US" sz="2400" dirty="0"/>
          </a:p>
        </p:txBody>
      </p:sp>
      <p:sp>
        <p:nvSpPr>
          <p:cNvPr id="27" name="!!Item6"/>
          <p:cNvSpPr txBox="1"/>
          <p:nvPr/>
        </p:nvSpPr>
        <p:spPr>
          <a:xfrm rot="2040000">
            <a:off x="362538" y="5557912"/>
            <a:ext cx="2194560" cy="548640"/>
          </a:xfrm>
          <a:prstGeom prst="rect">
            <a:avLst/>
          </a:prstGeom>
          <a:noFill/>
          <a:ln/>
        </p:spPr>
        <p:txBody>
          <a:bodyPr wrap="none" lIns="0" tIns="0" rIns="0" bIns="0" rtlCol="0" anchor="ctr"/>
          <a:lstStyle/>
          <a:p>
            <a:pPr marL="0" indent="0">
              <a:buNone/>
            </a:pPr>
            <a:r>
              <a:rPr lang="en-US" sz="2400" dirty="0">
                <a:solidFill>
                  <a:schemeClr val="accent4"/>
                </a:solidFill>
              </a:rPr>
              <a:t>Next</a:t>
            </a:r>
            <a:endParaRPr lang="en-US" sz="2400" dirty="0"/>
          </a:p>
        </p:txBody>
      </p:sp>
      <p:sp>
        <p:nvSpPr>
          <p:cNvPr id="28" name="!!Item7"/>
          <p:cNvSpPr txBox="1"/>
          <p:nvPr/>
        </p:nvSpPr>
        <p:spPr>
          <a:xfrm rot="3060000">
            <a:off x="-495782" y="649460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Close</a:t>
            </a:r>
            <a:endParaRPr lang="en-US" sz="2400" dirty="0"/>
          </a:p>
        </p:txBody>
      </p:sp>
      <p:sp>
        <p:nvSpPr>
          <p:cNvPr id="29" name="!!Hit0">
            <a:hlinkClick r:id="rId3" action="ppaction://hlinksldjump" tooltip="Go to Incident"/>
          </p:cNvPr>
          <p:cNvSpPr/>
          <p:nvPr/>
        </p:nvSpPr>
        <p:spPr>
          <a:xfrm rot="17520000">
            <a:off x="-1590461" y="-830060"/>
            <a:ext cx="2194560" cy="548640"/>
          </a:xfrm>
          <a:prstGeom prst="rect">
            <a:avLst/>
          </a:prstGeom>
          <a:solidFill>
            <a:schemeClr val="tx1">
              <a:alpha val="0"/>
            </a:schemeClr>
          </a:solidFill>
          <a:ln/>
        </p:spPr>
        <p:txBody>
          <a:bodyPr/>
          <a:lstStyle/>
          <a:p>
            <a:endParaRPr lang="en-IN"/>
          </a:p>
        </p:txBody>
      </p:sp>
      <p:sp>
        <p:nvSpPr>
          <p:cNvPr id="30" name="!!Hit1">
            <a:hlinkClick r:id="rId4" action="ppaction://hlinksldjump" tooltip="Go to Problem"/>
          </p:cNvPr>
          <p:cNvSpPr/>
          <p:nvPr/>
        </p:nvSpPr>
        <p:spPr>
          <a:xfrm rot="18540000">
            <a:off x="-495782" y="-185245"/>
            <a:ext cx="2194560" cy="548640"/>
          </a:xfrm>
          <a:prstGeom prst="rect">
            <a:avLst/>
          </a:prstGeom>
          <a:solidFill>
            <a:schemeClr val="tx1">
              <a:alpha val="0"/>
            </a:schemeClr>
          </a:solidFill>
          <a:ln/>
        </p:spPr>
        <p:txBody>
          <a:bodyPr/>
          <a:lstStyle/>
          <a:p>
            <a:endParaRPr lang="en-IN"/>
          </a:p>
        </p:txBody>
      </p:sp>
      <p:sp>
        <p:nvSpPr>
          <p:cNvPr id="31" name="!!Hit2">
            <a:hlinkClick r:id="rId5" action="ppaction://hlinksldjump" tooltip="Go to Twin"/>
          </p:cNvPr>
          <p:cNvSpPr/>
          <p:nvPr/>
        </p:nvSpPr>
        <p:spPr>
          <a:xfrm rot="19560000">
            <a:off x="362538" y="751448"/>
            <a:ext cx="2194560" cy="548640"/>
          </a:xfrm>
          <a:prstGeom prst="rect">
            <a:avLst/>
          </a:prstGeom>
          <a:solidFill>
            <a:schemeClr val="tx1">
              <a:alpha val="0"/>
            </a:schemeClr>
          </a:solidFill>
          <a:ln/>
        </p:spPr>
        <p:txBody>
          <a:bodyPr/>
          <a:lstStyle/>
          <a:p>
            <a:endParaRPr lang="en-IN"/>
          </a:p>
        </p:txBody>
      </p:sp>
      <p:sp>
        <p:nvSpPr>
          <p:cNvPr id="32" name="!!Hit3">
            <a:hlinkClick r:id="rId6" action="ppaction://hlinksldjump" tooltip="Go to Cost"/>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33" name="!!Hit4">
            <a:hlinkClick r:id="rId7" action="ppaction://hlinksldjump" tooltip="Go to Bench"/>
          </p:cNvPr>
          <p:cNvSpPr/>
          <p:nvPr/>
        </p:nvSpPr>
        <p:spPr>
          <a:xfrm>
            <a:off x="1097280" y="3154680"/>
            <a:ext cx="2194560" cy="548640"/>
          </a:xfrm>
          <a:prstGeom prst="rect">
            <a:avLst/>
          </a:prstGeom>
          <a:solidFill>
            <a:schemeClr val="tx1">
              <a:alpha val="0"/>
            </a:schemeClr>
          </a:solidFill>
          <a:ln/>
        </p:spPr>
        <p:txBody>
          <a:bodyPr/>
          <a:lstStyle/>
          <a:p>
            <a:endParaRPr lang="en-IN"/>
          </a:p>
        </p:txBody>
      </p:sp>
      <p:sp>
        <p:nvSpPr>
          <p:cNvPr id="34" name="!!Hit5">
            <a:hlinkClick r:id="rId8" action="ppaction://hlinksldjump" tooltip="Go to Job"/>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5" name="!!Hit6">
            <a:hlinkClick r:id="rId9" action="ppaction://hlinksldjump" tooltip="Go to Next"/>
          </p:cNvPr>
          <p:cNvSpPr/>
          <p:nvPr/>
        </p:nvSpPr>
        <p:spPr>
          <a:xfrm rot="2040000">
            <a:off x="362538" y="5557912"/>
            <a:ext cx="2194560" cy="548640"/>
          </a:xfrm>
          <a:prstGeom prst="rect">
            <a:avLst/>
          </a:prstGeom>
          <a:solidFill>
            <a:schemeClr val="tx1">
              <a:alpha val="0"/>
            </a:schemeClr>
          </a:solidFill>
          <a:ln/>
        </p:spPr>
        <p:txBody>
          <a:bodyPr/>
          <a:lstStyle/>
          <a:p>
            <a:endParaRPr lang="en-IN"/>
          </a:p>
        </p:txBody>
      </p:sp>
      <p:sp>
        <p:nvSpPr>
          <p:cNvPr id="36" name="!!Hit7">
            <a:hlinkClick r:id="rId10" action="ppaction://hlinksldjump" tooltip="Go to Close"/>
          </p:cNvPr>
          <p:cNvSpPr/>
          <p:nvPr/>
        </p:nvSpPr>
        <p:spPr>
          <a:xfrm rot="3060000">
            <a:off x="-495782" y="6494605"/>
            <a:ext cx="2194560" cy="548640"/>
          </a:xfrm>
          <a:prstGeom prst="rect">
            <a:avLst/>
          </a:prstGeom>
          <a:solidFill>
            <a:schemeClr val="tx1">
              <a:alpha val="0"/>
            </a:schemeClr>
          </a:solidFill>
          <a:ln/>
        </p:spPr>
        <p:txBody>
          <a:bodyPr/>
          <a:lstStyle/>
          <a:p>
            <a:endParaRPr lang="en-IN"/>
          </a:p>
        </p:txBody>
      </p:sp>
      <p:sp>
        <p:nvSpPr>
          <p:cNvPr id="37"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8" name="!!PitchTitle"/>
          <p:cNvSpPr txBox="1"/>
          <p:nvPr/>
        </p:nvSpPr>
        <p:spPr>
          <a:xfrm>
            <a:off x="5760720" y="274320"/>
            <a:ext cx="5669280" cy="971550"/>
          </a:xfrm>
          <a:prstGeom prst="rect">
            <a:avLst/>
          </a:prstGeom>
          <a:noFill/>
          <a:ln/>
        </p:spPr>
        <p:txBody>
          <a:bodyPr wrap="square" lIns="0" tIns="0" rIns="0" bIns="0" rtlCol="0" anchor="t"/>
          <a:lstStyle/>
          <a:p>
            <a:pPr marL="0" indent="0">
              <a:buNone/>
            </a:pPr>
            <a:r>
              <a:rPr lang="en-US" sz="2800" b="1" dirty="0">
                <a:solidFill>
                  <a:schemeClr val="bg1"/>
                </a:solidFill>
                <a:latin typeface="Dubai" panose="020B0503030403030204" pitchFamily="34" charset="-78"/>
                <a:cs typeface="Dubai" panose="020B0503030403030204" pitchFamily="34" charset="-78"/>
              </a:rPr>
              <a:t>Freeze a </a:t>
            </a:r>
            <a:r>
              <a:rPr lang="en-US" sz="2800" b="1" dirty="0" err="1">
                <a:solidFill>
                  <a:schemeClr val="bg1"/>
                </a:solidFill>
                <a:latin typeface="Dubai" panose="020B0503030403030204" pitchFamily="34" charset="-78"/>
                <a:cs typeface="Dubai" panose="020B0503030403030204" pitchFamily="34" charset="-78"/>
              </a:rPr>
              <a:t>forecast.Change</a:t>
            </a:r>
            <a:r>
              <a:rPr lang="en-US" sz="2800" b="1" dirty="0">
                <a:solidFill>
                  <a:schemeClr val="bg1"/>
                </a:solidFill>
                <a:latin typeface="Dubai" panose="020B0503030403030204" pitchFamily="34" charset="-78"/>
                <a:cs typeface="Dubai" panose="020B0503030403030204" pitchFamily="34" charset="-78"/>
              </a:rPr>
              <a:t> the load.</a:t>
            </a:r>
            <a:endParaRPr lang="en-US" sz="2800" dirty="0">
              <a:latin typeface="Dubai" panose="020B0503030403030204" pitchFamily="34" charset="-78"/>
              <a:cs typeface="Dubai" panose="020B0503030403030204" pitchFamily="34" charset="-78"/>
            </a:endParaRPr>
          </a:p>
          <a:p>
            <a:pPr marL="0" indent="0">
              <a:buNone/>
            </a:pPr>
            <a:r>
              <a:rPr lang="en-US" sz="2800" b="1" dirty="0">
                <a:solidFill>
                  <a:schemeClr val="bg1"/>
                </a:solidFill>
                <a:latin typeface="Dubai" panose="020B0503030403030204" pitchFamily="34" charset="-78"/>
                <a:cs typeface="Dubai" panose="020B0503030403030204" pitchFamily="34" charset="-78"/>
              </a:rPr>
              <a:t>Check the result.</a:t>
            </a:r>
            <a:endParaRPr lang="en-US" sz="2800" dirty="0">
              <a:latin typeface="Dubai" panose="020B0503030403030204" pitchFamily="34" charset="-78"/>
              <a:cs typeface="Dubai" panose="020B0503030403030204" pitchFamily="34" charset="-78"/>
            </a:endParaRPr>
          </a:p>
        </p:txBody>
      </p:sp>
      <p:sp>
        <p:nvSpPr>
          <p:cNvPr id="39" name="S7c0"/>
          <p:cNvSpPr/>
          <p:nvPr/>
        </p:nvSpPr>
        <p:spPr>
          <a:xfrm>
            <a:off x="5760719" y="4908668"/>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Record baseline</a:t>
            </a:r>
            <a:endParaRPr lang="en-US" sz="1800" dirty="0"/>
          </a:p>
        </p:txBody>
      </p:sp>
      <p:sp>
        <p:nvSpPr>
          <p:cNvPr id="40" name="S7c1"/>
          <p:cNvSpPr/>
          <p:nvPr/>
        </p:nvSpPr>
        <p:spPr>
          <a:xfrm>
            <a:off x="8582950" y="4908668"/>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Save both forecasts</a:t>
            </a:r>
            <a:endParaRPr lang="en-US" sz="1800" dirty="0"/>
          </a:p>
        </p:txBody>
      </p:sp>
      <p:sp>
        <p:nvSpPr>
          <p:cNvPr id="41" name="S7c2"/>
          <p:cNvSpPr/>
          <p:nvPr/>
        </p:nvSpPr>
        <p:spPr>
          <a:xfrm>
            <a:off x="5760720" y="5530933"/>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Apply load change</a:t>
            </a:r>
            <a:endParaRPr lang="en-US" sz="1800" dirty="0"/>
          </a:p>
        </p:txBody>
      </p:sp>
      <p:sp>
        <p:nvSpPr>
          <p:cNvPr id="42" name="S7c3"/>
          <p:cNvSpPr/>
          <p:nvPr/>
        </p:nvSpPr>
        <p:spPr>
          <a:xfrm>
            <a:off x="8582950" y="553593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800" dirty="0">
                <a:solidFill>
                  <a:schemeClr val="accent5"/>
                </a:solidFill>
              </a:rPr>
              <a:t>●  </a:t>
            </a:r>
            <a:r>
              <a:rPr lang="en-US" sz="1800" dirty="0">
                <a:solidFill>
                  <a:schemeClr val="bg1"/>
                </a:solidFill>
              </a:rPr>
              <a:t>Compare vs forecast</a:t>
            </a:r>
            <a:endParaRPr lang="en-US" sz="1800" dirty="0"/>
          </a:p>
        </p:txBody>
      </p:sp>
      <p:sp>
        <p:nvSpPr>
          <p:cNvPr id="43" name="S7key"/>
          <p:cNvSpPr txBox="1"/>
          <p:nvPr/>
        </p:nvSpPr>
        <p:spPr>
          <a:xfrm>
            <a:off x="5760720" y="6028093"/>
            <a:ext cx="5669280" cy="594360"/>
          </a:xfrm>
          <a:prstGeom prst="rect">
            <a:avLst/>
          </a:prstGeom>
          <a:noFill/>
          <a:ln/>
        </p:spPr>
        <p:txBody>
          <a:bodyPr wrap="square" lIns="0" tIns="0" rIns="0" bIns="0" rtlCol="0" anchor="t"/>
          <a:lstStyle/>
          <a:p>
            <a:pPr marL="0" indent="0">
              <a:buNone/>
            </a:pPr>
            <a:r>
              <a:rPr lang="en-US" sz="1800" b="1" dirty="0">
                <a:solidFill>
                  <a:schemeClr val="accent6"/>
                </a:solidFill>
                <a:latin typeface="Dubai" panose="020B0503030403030204" pitchFamily="34" charset="-78"/>
                <a:cs typeface="Dubai" panose="020B0503030403030204" pitchFamily="34" charset="-78"/>
              </a:rPr>
              <a:t>Bench = surface temperature only; oil-transformer studies stay separate.</a:t>
            </a:r>
            <a:endParaRPr lang="en-US" sz="1800" dirty="0">
              <a:latin typeface="Dubai" panose="020B0503030403030204" pitchFamily="34" charset="-78"/>
              <a:cs typeface="Dubai" panose="020B0503030403030204" pitchFamily="34" charset="-78"/>
            </a:endParaRPr>
          </a:p>
        </p:txBody>
      </p:sp>
      <p:sp>
        <p:nvSpPr>
          <p:cNvPr id="15" name="!!HeroFrame"/>
          <p:cNvSpPr>
            <a:spLocks noGrp="1" noRot="1" noMove="1" noResize="1" noEditPoints="1" noAdjustHandles="1" noChangeArrowheads="1" noChangeShapeType="1"/>
          </p:cNvSpPr>
          <p:nvPr/>
        </p:nvSpPr>
        <p:spPr>
          <a:xfrm>
            <a:off x="5760720" y="1445520"/>
            <a:ext cx="5760000" cy="3240000"/>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w="12700">
            <a:solidFill>
              <a:schemeClr val="accent4"/>
            </a:solidFill>
            <a:prstDash val="dash"/>
          </a:ln>
        </p:spPr>
        <p:txBody>
          <a:bodyPr/>
          <a:lstStyle/>
          <a:p>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300"/>
                                        <p:tgtEl>
                                          <p:spTgt spid="39"/>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300"/>
                                        <p:tgtEl>
                                          <p:spTgt spid="40"/>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300"/>
                                        <p:tgtEl>
                                          <p:spTgt spid="41"/>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300"/>
                                        <p:tgtEl>
                                          <p:spTgt spid="42"/>
                                        </p:tgtEl>
                                      </p:cBhvr>
                                    </p:animEffect>
                                  </p:childTnLst>
                                </p:cTn>
                              </p:par>
                              <p:par>
                                <p:cTn id="17" presetID="10" presetClass="entr" presetSubtype="0" fill="hold" grpId="0" nodeType="withEffect">
                                  <p:stCondLst>
                                    <p:cond delay="48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3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6" name="!!MediaPlay"/>
          <p:cNvSpPr/>
          <p:nvPr/>
        </p:nvSpPr>
        <p:spPr>
          <a:xfrm>
            <a:off x="8138160" y="2548890"/>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412480" y="2795778"/>
            <a:ext cx="237744" cy="237744"/>
          </a:xfrm>
          <a:prstGeom prst="triangle">
            <a:avLst/>
          </a:prstGeom>
          <a:solidFill>
            <a:schemeClr val="bg1"/>
          </a:solidFill>
          <a:ln/>
        </p:spPr>
        <p:txBody>
          <a:bodyPr/>
          <a:lstStyle/>
          <a:p>
            <a:endParaRPr lang="en-IN"/>
          </a:p>
        </p:txBody>
      </p:sp>
      <p:sp>
        <p:nvSpPr>
          <p:cNvPr id="18" name="!!MediaLabel"/>
          <p:cNvSpPr txBox="1"/>
          <p:nvPr/>
        </p:nvSpPr>
        <p:spPr>
          <a:xfrm>
            <a:off x="5943600" y="1508760"/>
            <a:ext cx="5120640" cy="320040"/>
          </a:xfrm>
          <a:prstGeom prst="rect">
            <a:avLst/>
          </a:prstGeom>
          <a:noFill/>
          <a:ln/>
        </p:spPr>
        <p:txBody>
          <a:bodyPr wrap="square" lIns="0" tIns="0" rIns="0" bIns="0" rtlCol="0" anchor="t"/>
          <a:lstStyle/>
          <a:p>
            <a:pPr marL="0" indent="0">
              <a:buNone/>
            </a:pPr>
            <a:endParaRPr lang="en-US" sz="1600" dirty="0"/>
          </a:p>
        </p:txBody>
      </p:sp>
      <p:sp>
        <p:nvSpPr>
          <p:cNvPr id="19" name="Tag8"/>
          <p:cNvSpPr txBox="1"/>
          <p:nvPr/>
        </p:nvSpPr>
        <p:spPr>
          <a:xfrm>
            <a:off x="5943600" y="1828800"/>
            <a:ext cx="5120640" cy="320040"/>
          </a:xfrm>
          <a:prstGeom prst="rect">
            <a:avLst/>
          </a:prstGeom>
          <a:noFill/>
          <a:ln/>
        </p:spPr>
        <p:txBody>
          <a:bodyPr wrap="square" lIns="0" tIns="0" rIns="0" bIns="0" rtlCol="0" anchor="t"/>
          <a:lstStyle/>
          <a:p>
            <a:pPr marL="0" indent="0">
              <a:buNone/>
            </a:pPr>
            <a:endParaRPr lang="en-US" sz="1600" dirty="0"/>
          </a:p>
        </p:txBody>
      </p:sp>
      <p:sp>
        <p:nvSpPr>
          <p:cNvPr id="20" name="!!MediaHint"/>
          <p:cNvSpPr txBox="1"/>
          <p:nvPr/>
        </p:nvSpPr>
        <p:spPr>
          <a:xfrm>
            <a:off x="5943600" y="4046220"/>
            <a:ext cx="5120640" cy="274320"/>
          </a:xfrm>
          <a:prstGeom prst="rect">
            <a:avLst/>
          </a:prstGeom>
          <a:noFill/>
          <a:ln/>
        </p:spPr>
        <p:txBody>
          <a:bodyPr wrap="square" lIns="0" tIns="0" rIns="0" bIns="0" rtlCol="0" anchor="t"/>
          <a:lstStyle/>
          <a:p>
            <a:pPr marL="0" indent="0">
              <a:buNone/>
            </a:pPr>
            <a:endParaRPr lang="en-US" sz="1600" dirty="0"/>
          </a:p>
        </p:txBody>
      </p:sp>
      <p:sp>
        <p:nvSpPr>
          <p:cNvPr id="21" name="!!Item0"/>
          <p:cNvSpPr txBox="1"/>
          <p:nvPr/>
        </p:nvSpPr>
        <p:spPr>
          <a:xfrm rot="16500000">
            <a:off x="-2825833" y="-112664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Incident</a:t>
            </a:r>
            <a:endParaRPr lang="en-US" sz="2400" dirty="0"/>
          </a:p>
        </p:txBody>
      </p:sp>
      <p:sp>
        <p:nvSpPr>
          <p:cNvPr id="22" name="!!Item1"/>
          <p:cNvSpPr txBox="1"/>
          <p:nvPr/>
        </p:nvSpPr>
        <p:spPr>
          <a:xfrm rot="17520000">
            <a:off x="-1590461" y="-83006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Problem</a:t>
            </a:r>
            <a:endParaRPr lang="en-US" sz="2400" dirty="0"/>
          </a:p>
        </p:txBody>
      </p:sp>
      <p:sp>
        <p:nvSpPr>
          <p:cNvPr id="23" name="!!Item2"/>
          <p:cNvSpPr txBox="1"/>
          <p:nvPr/>
        </p:nvSpPr>
        <p:spPr>
          <a:xfrm rot="18540000">
            <a:off x="-495782" y="-1852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Twin</a:t>
            </a:r>
            <a:endParaRPr lang="en-US" sz="2400" dirty="0"/>
          </a:p>
        </p:txBody>
      </p:sp>
      <p:sp>
        <p:nvSpPr>
          <p:cNvPr id="24" name="!!Item3"/>
          <p:cNvSpPr txBox="1"/>
          <p:nvPr/>
        </p:nvSpPr>
        <p:spPr>
          <a:xfrm rot="19560000">
            <a:off x="362538" y="751448"/>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Cost</a:t>
            </a:r>
            <a:endParaRPr lang="en-US" sz="2400" dirty="0"/>
          </a:p>
        </p:txBody>
      </p:sp>
      <p:sp>
        <p:nvSpPr>
          <p:cNvPr id="25" name="!!Item4"/>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Bench</a:t>
            </a:r>
            <a:endParaRPr lang="en-US" sz="2400" dirty="0"/>
          </a:p>
        </p:txBody>
      </p:sp>
      <p:sp>
        <p:nvSpPr>
          <p:cNvPr id="26" name="!!Item5"/>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Job</a:t>
            </a:r>
            <a:endParaRPr lang="en-US" sz="3000" dirty="0"/>
          </a:p>
        </p:txBody>
      </p:sp>
      <p:sp>
        <p:nvSpPr>
          <p:cNvPr id="27" name="!!Item6"/>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Next</a:t>
            </a:r>
            <a:endParaRPr lang="en-US" sz="2400" dirty="0"/>
          </a:p>
        </p:txBody>
      </p:sp>
      <p:sp>
        <p:nvSpPr>
          <p:cNvPr id="28" name="!!Item7"/>
          <p:cNvSpPr txBox="1"/>
          <p:nvPr/>
        </p:nvSpPr>
        <p:spPr>
          <a:xfrm rot="2040000">
            <a:off x="362538" y="5557912"/>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Close</a:t>
            </a:r>
            <a:endParaRPr lang="en-US" sz="2400" dirty="0"/>
          </a:p>
        </p:txBody>
      </p:sp>
      <p:sp>
        <p:nvSpPr>
          <p:cNvPr id="29" name="!!Hit0">
            <a:hlinkClick r:id="rId3" action="ppaction://hlinksldjump" tooltip="Go to Incident"/>
          </p:cNvPr>
          <p:cNvSpPr/>
          <p:nvPr/>
        </p:nvSpPr>
        <p:spPr>
          <a:xfrm rot="16500000">
            <a:off x="-2825833" y="-1126646"/>
            <a:ext cx="2194560" cy="548640"/>
          </a:xfrm>
          <a:prstGeom prst="rect">
            <a:avLst/>
          </a:prstGeom>
          <a:solidFill>
            <a:schemeClr val="tx1">
              <a:alpha val="0"/>
            </a:schemeClr>
          </a:solidFill>
          <a:ln/>
        </p:spPr>
        <p:txBody>
          <a:bodyPr/>
          <a:lstStyle/>
          <a:p>
            <a:endParaRPr lang="en-IN"/>
          </a:p>
        </p:txBody>
      </p:sp>
      <p:sp>
        <p:nvSpPr>
          <p:cNvPr id="30" name="!!Hit1">
            <a:hlinkClick r:id="rId4" action="ppaction://hlinksldjump" tooltip="Go to Problem"/>
          </p:cNvPr>
          <p:cNvSpPr/>
          <p:nvPr/>
        </p:nvSpPr>
        <p:spPr>
          <a:xfrm rot="17520000">
            <a:off x="-1590461" y="-830060"/>
            <a:ext cx="2194560" cy="548640"/>
          </a:xfrm>
          <a:prstGeom prst="rect">
            <a:avLst/>
          </a:prstGeom>
          <a:solidFill>
            <a:schemeClr val="tx1">
              <a:alpha val="0"/>
            </a:schemeClr>
          </a:solidFill>
          <a:ln/>
        </p:spPr>
        <p:txBody>
          <a:bodyPr/>
          <a:lstStyle/>
          <a:p>
            <a:endParaRPr lang="en-IN"/>
          </a:p>
        </p:txBody>
      </p:sp>
      <p:sp>
        <p:nvSpPr>
          <p:cNvPr id="31" name="!!Hit2">
            <a:hlinkClick r:id="rId5" action="ppaction://hlinksldjump" tooltip="Go to Twin"/>
          </p:cNvPr>
          <p:cNvSpPr/>
          <p:nvPr/>
        </p:nvSpPr>
        <p:spPr>
          <a:xfrm rot="18540000">
            <a:off x="-495782" y="-185245"/>
            <a:ext cx="2194560" cy="548640"/>
          </a:xfrm>
          <a:prstGeom prst="rect">
            <a:avLst/>
          </a:prstGeom>
          <a:solidFill>
            <a:schemeClr val="tx1">
              <a:alpha val="0"/>
            </a:schemeClr>
          </a:solidFill>
          <a:ln/>
        </p:spPr>
        <p:txBody>
          <a:bodyPr/>
          <a:lstStyle/>
          <a:p>
            <a:endParaRPr lang="en-IN"/>
          </a:p>
        </p:txBody>
      </p:sp>
      <p:sp>
        <p:nvSpPr>
          <p:cNvPr id="32" name="!!Hit3">
            <a:hlinkClick r:id="rId6" action="ppaction://hlinksldjump" tooltip="Go to Cost"/>
          </p:cNvPr>
          <p:cNvSpPr/>
          <p:nvPr/>
        </p:nvSpPr>
        <p:spPr>
          <a:xfrm rot="19560000">
            <a:off x="362538" y="751448"/>
            <a:ext cx="2194560" cy="548640"/>
          </a:xfrm>
          <a:prstGeom prst="rect">
            <a:avLst/>
          </a:prstGeom>
          <a:solidFill>
            <a:schemeClr val="tx1">
              <a:alpha val="0"/>
            </a:schemeClr>
          </a:solidFill>
          <a:ln/>
        </p:spPr>
        <p:txBody>
          <a:bodyPr/>
          <a:lstStyle/>
          <a:p>
            <a:endParaRPr lang="en-IN"/>
          </a:p>
        </p:txBody>
      </p:sp>
      <p:sp>
        <p:nvSpPr>
          <p:cNvPr id="33" name="!!Hit4">
            <a:hlinkClick r:id="rId7" action="ppaction://hlinksldjump" tooltip="Go to Bench"/>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34" name="!!Hit5">
            <a:hlinkClick r:id="rId8" action="ppaction://hlinksldjump" tooltip="Go to Job"/>
          </p:cNvPr>
          <p:cNvSpPr/>
          <p:nvPr/>
        </p:nvSpPr>
        <p:spPr>
          <a:xfrm>
            <a:off x="1097280" y="3154680"/>
            <a:ext cx="2194560" cy="548640"/>
          </a:xfrm>
          <a:prstGeom prst="rect">
            <a:avLst/>
          </a:prstGeom>
          <a:solidFill>
            <a:schemeClr val="tx1">
              <a:alpha val="0"/>
            </a:schemeClr>
          </a:solidFill>
          <a:ln/>
        </p:spPr>
        <p:txBody>
          <a:bodyPr/>
          <a:lstStyle/>
          <a:p>
            <a:endParaRPr lang="en-IN"/>
          </a:p>
        </p:txBody>
      </p:sp>
      <p:sp>
        <p:nvSpPr>
          <p:cNvPr id="35" name="!!Hit6">
            <a:hlinkClick r:id="rId9" action="ppaction://hlinksldjump" tooltip="Go to Next"/>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6" name="!!Hit7">
            <a:hlinkClick r:id="rId10" action="ppaction://hlinksldjump" tooltip="Go to Close"/>
          </p:cNvPr>
          <p:cNvSpPr/>
          <p:nvPr/>
        </p:nvSpPr>
        <p:spPr>
          <a:xfrm rot="2040000">
            <a:off x="362538" y="5557912"/>
            <a:ext cx="2194560" cy="548640"/>
          </a:xfrm>
          <a:prstGeom prst="rect">
            <a:avLst/>
          </a:prstGeom>
          <a:solidFill>
            <a:schemeClr val="tx1">
              <a:alpha val="0"/>
            </a:schemeClr>
          </a:solidFill>
          <a:ln/>
        </p:spPr>
        <p:txBody>
          <a:bodyPr/>
          <a:lstStyle/>
          <a:p>
            <a:endParaRPr lang="en-IN"/>
          </a:p>
        </p:txBody>
      </p:sp>
      <p:sp>
        <p:nvSpPr>
          <p:cNvPr id="37"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8" name="!!PitchTitle"/>
          <p:cNvSpPr txBox="1"/>
          <p:nvPr/>
        </p:nvSpPr>
        <p:spPr>
          <a:xfrm>
            <a:off x="5760720" y="320040"/>
            <a:ext cx="5669280" cy="960120"/>
          </a:xfrm>
          <a:prstGeom prst="rect">
            <a:avLst/>
          </a:prstGeom>
          <a:noFill/>
          <a:ln/>
        </p:spPr>
        <p:txBody>
          <a:bodyPr wrap="square" lIns="0" tIns="0" rIns="0" bIns="0" rtlCol="0" anchor="t"/>
          <a:lstStyle/>
          <a:p>
            <a:pPr marL="0" indent="0">
              <a:buNone/>
            </a:pPr>
            <a:r>
              <a:rPr lang="en-US" sz="3000" b="1" dirty="0">
                <a:solidFill>
                  <a:schemeClr val="bg1"/>
                </a:solidFill>
                <a:latin typeface="Dubai" panose="020B0503030403030204" pitchFamily="34" charset="-78"/>
                <a:cs typeface="Dubai" panose="020B0503030403030204" pitchFamily="34" charset="-78"/>
              </a:rPr>
              <a:t>Complete the</a:t>
            </a:r>
            <a:endParaRPr lang="en-US" sz="3000" dirty="0">
              <a:latin typeface="Dubai" panose="020B0503030403030204" pitchFamily="34" charset="-78"/>
              <a:cs typeface="Dubai" panose="020B0503030403030204" pitchFamily="34" charset="-78"/>
            </a:endParaRPr>
          </a:p>
          <a:p>
            <a:pPr marL="0" indent="0">
              <a:buNone/>
            </a:pPr>
            <a:r>
              <a:rPr lang="en-US" sz="3000" b="1" dirty="0">
                <a:solidFill>
                  <a:schemeClr val="bg1"/>
                </a:solidFill>
                <a:latin typeface="Dubai" panose="020B0503030403030204" pitchFamily="34" charset="-78"/>
                <a:cs typeface="Dubai" panose="020B0503030403030204" pitchFamily="34" charset="-78"/>
              </a:rPr>
              <a:t>maintenance job</a:t>
            </a:r>
            <a:endParaRPr lang="en-US" sz="3000" dirty="0">
              <a:latin typeface="Dubai" panose="020B0503030403030204" pitchFamily="34" charset="-78"/>
              <a:cs typeface="Dubai" panose="020B0503030403030204" pitchFamily="34" charset="-78"/>
            </a:endParaRPr>
          </a:p>
        </p:txBody>
      </p:sp>
      <p:sp>
        <p:nvSpPr>
          <p:cNvPr id="39" name="S8c0"/>
          <p:cNvSpPr/>
          <p:nvPr/>
        </p:nvSpPr>
        <p:spPr>
          <a:xfrm>
            <a:off x="5760720" y="472635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bg1"/>
                </a:solidFill>
              </a:rPr>
              <a:t>1  Engineer reviews</a:t>
            </a:r>
            <a:endParaRPr lang="en-US" sz="1400" dirty="0"/>
          </a:p>
        </p:txBody>
      </p:sp>
      <p:sp>
        <p:nvSpPr>
          <p:cNvPr id="40" name="S8c1"/>
          <p:cNvSpPr/>
          <p:nvPr/>
        </p:nvSpPr>
        <p:spPr>
          <a:xfrm>
            <a:off x="8549640" y="472635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bg1"/>
                </a:solidFill>
              </a:rPr>
              <a:t>2  Technician scans NFC/QR</a:t>
            </a:r>
            <a:endParaRPr lang="en-US" sz="1400" dirty="0"/>
          </a:p>
        </p:txBody>
      </p:sp>
      <p:sp>
        <p:nvSpPr>
          <p:cNvPr id="41" name="S8c2"/>
          <p:cNvSpPr/>
          <p:nvPr/>
        </p:nvSpPr>
        <p:spPr>
          <a:xfrm>
            <a:off x="5760720" y="5326335"/>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bg1"/>
                </a:solidFill>
              </a:rPr>
              <a:t>3  Halo follows up1</a:t>
            </a:r>
            <a:endParaRPr lang="en-US" sz="1400" dirty="0"/>
          </a:p>
        </p:txBody>
      </p:sp>
      <p:sp>
        <p:nvSpPr>
          <p:cNvPr id="42" name="S8c3"/>
          <p:cNvSpPr/>
          <p:nvPr/>
        </p:nvSpPr>
        <p:spPr>
          <a:xfrm>
            <a:off x="8549640" y="5306400"/>
            <a:ext cx="252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bg1"/>
                </a:solidFill>
              </a:rPr>
              <a:t>4 Offline-ready · Telegram</a:t>
            </a:r>
            <a:endParaRPr lang="en-US" sz="1400" dirty="0"/>
          </a:p>
        </p:txBody>
      </p:sp>
      <p:sp>
        <p:nvSpPr>
          <p:cNvPr id="43" name="S8key"/>
          <p:cNvSpPr txBox="1"/>
          <p:nvPr/>
        </p:nvSpPr>
        <p:spPr>
          <a:xfrm>
            <a:off x="5760720" y="5925312"/>
            <a:ext cx="5669280" cy="640080"/>
          </a:xfrm>
          <a:prstGeom prst="rect">
            <a:avLst/>
          </a:prstGeom>
          <a:noFill/>
          <a:ln/>
        </p:spPr>
        <p:txBody>
          <a:bodyPr wrap="square" lIns="0" tIns="0" rIns="0" bIns="0" rtlCol="0" anchor="t"/>
          <a:lstStyle/>
          <a:p>
            <a:pPr marL="0" indent="0">
              <a:buNone/>
            </a:pPr>
            <a:r>
              <a:rPr lang="en-US" sz="2000" b="1" dirty="0">
                <a:solidFill>
                  <a:schemeClr val="accent6"/>
                </a:solidFill>
                <a:latin typeface="Dubai" panose="020B0503030403030204" pitchFamily="34" charset="-78"/>
                <a:cs typeface="Dubai" panose="020B0503030403030204" pitchFamily="34" charset="-78"/>
              </a:rPr>
              <a:t>Load reduction is mitigation, not proof of repair.</a:t>
            </a:r>
            <a:endParaRPr lang="en-US" sz="2000" dirty="0">
              <a:latin typeface="Dubai" panose="020B0503030403030204" pitchFamily="34" charset="-78"/>
              <a:cs typeface="Dubai" panose="020B0503030403030204" pitchFamily="34" charset="-78"/>
            </a:endParaRPr>
          </a:p>
        </p:txBody>
      </p:sp>
      <p:sp>
        <p:nvSpPr>
          <p:cNvPr id="15" name="!!HeroFrame"/>
          <p:cNvSpPr>
            <a:spLocks noGrp="1" noRot="1" noMove="1" noResize="1" noEditPoints="1" noAdjustHandles="1" noChangeArrowheads="1" noChangeShapeType="1"/>
          </p:cNvSpPr>
          <p:nvPr/>
        </p:nvSpPr>
        <p:spPr>
          <a:xfrm>
            <a:off x="5760720" y="1371600"/>
            <a:ext cx="5486400" cy="3240000"/>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w="12700">
            <a:solidFill>
              <a:schemeClr val="accent4"/>
            </a:solidFill>
            <a:prstDash val="dash"/>
          </a:ln>
        </p:spPr>
        <p:txBody>
          <a:bodyPr/>
          <a:lstStyle/>
          <a:p>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300"/>
                                        <p:tgtEl>
                                          <p:spTgt spid="39"/>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300"/>
                                        <p:tgtEl>
                                          <p:spTgt spid="40"/>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300"/>
                                        <p:tgtEl>
                                          <p:spTgt spid="41"/>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300"/>
                                        <p:tgtEl>
                                          <p:spTgt spid="42"/>
                                        </p:tgtEl>
                                      </p:cBhvr>
                                    </p:animEffect>
                                  </p:childTnLst>
                                </p:cTn>
                              </p:par>
                              <p:par>
                                <p:cTn id="17" presetID="10" presetClass="entr" presetSubtype="0" fill="hold" grpId="0" nodeType="withEffect">
                                  <p:stCondLst>
                                    <p:cond delay="48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3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6" name="!!MediaPlay"/>
          <p:cNvSpPr/>
          <p:nvPr/>
        </p:nvSpPr>
        <p:spPr>
          <a:xfrm>
            <a:off x="7955280" y="2080260"/>
            <a:ext cx="731520" cy="731520"/>
          </a:xfrm>
          <a:prstGeom prst="ellipse">
            <a:avLst/>
          </a:prstGeom>
          <a:ln w="22225">
            <a:solidFill>
              <a:schemeClr val="bg1"/>
            </a:solidFill>
            <a:prstDash val="solid"/>
          </a:ln>
        </p:spPr>
        <p:txBody>
          <a:bodyPr/>
          <a:lstStyle/>
          <a:p>
            <a:endParaRPr lang="en-IN"/>
          </a:p>
        </p:txBody>
      </p:sp>
      <p:sp>
        <p:nvSpPr>
          <p:cNvPr id="17" name="!!MediaTri"/>
          <p:cNvSpPr/>
          <p:nvPr/>
        </p:nvSpPr>
        <p:spPr>
          <a:xfrm rot="5400000">
            <a:off x="8229600" y="2327148"/>
            <a:ext cx="237744" cy="237744"/>
          </a:xfrm>
          <a:prstGeom prst="triangle">
            <a:avLst/>
          </a:prstGeom>
          <a:solidFill>
            <a:schemeClr val="bg1"/>
          </a:solidFill>
          <a:ln/>
        </p:spPr>
        <p:txBody>
          <a:bodyPr/>
          <a:lstStyle/>
          <a:p>
            <a:endParaRPr lang="en-IN"/>
          </a:p>
        </p:txBody>
      </p:sp>
      <p:sp>
        <p:nvSpPr>
          <p:cNvPr id="18" name="!!MediaLabel"/>
          <p:cNvSpPr txBox="1"/>
          <p:nvPr/>
        </p:nvSpPr>
        <p:spPr>
          <a:xfrm>
            <a:off x="5943600" y="1143000"/>
            <a:ext cx="4754880" cy="320040"/>
          </a:xfrm>
          <a:prstGeom prst="rect">
            <a:avLst/>
          </a:prstGeom>
          <a:noFill/>
          <a:ln/>
        </p:spPr>
        <p:txBody>
          <a:bodyPr wrap="square" lIns="0" tIns="0" rIns="0" bIns="0" rtlCol="0" anchor="t"/>
          <a:lstStyle/>
          <a:p>
            <a:pPr marL="0" indent="0">
              <a:buNone/>
            </a:pPr>
            <a:endParaRPr lang="en-US" sz="1600" dirty="0"/>
          </a:p>
        </p:txBody>
      </p:sp>
      <p:sp>
        <p:nvSpPr>
          <p:cNvPr id="19" name="!!MediaHint"/>
          <p:cNvSpPr txBox="1"/>
          <p:nvPr/>
        </p:nvSpPr>
        <p:spPr>
          <a:xfrm>
            <a:off x="5943600" y="3474720"/>
            <a:ext cx="4754880" cy="274320"/>
          </a:xfrm>
          <a:prstGeom prst="rect">
            <a:avLst/>
          </a:prstGeom>
          <a:noFill/>
          <a:ln/>
        </p:spPr>
        <p:txBody>
          <a:bodyPr wrap="square" lIns="0" tIns="0" rIns="0" bIns="0" rtlCol="0" anchor="t"/>
          <a:lstStyle/>
          <a:p>
            <a:pPr marL="0" indent="0">
              <a:buNone/>
            </a:pPr>
            <a:endParaRPr lang="en-US" sz="1600" dirty="0"/>
          </a:p>
        </p:txBody>
      </p:sp>
      <p:sp>
        <p:nvSpPr>
          <p:cNvPr id="20" name="!!Item0"/>
          <p:cNvSpPr txBox="1"/>
          <p:nvPr/>
        </p:nvSpPr>
        <p:spPr>
          <a:xfrm rot="15480000">
            <a:off x="-4093938" y="-104908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Incident</a:t>
            </a:r>
            <a:endParaRPr lang="en-US" sz="2400" dirty="0"/>
          </a:p>
        </p:txBody>
      </p:sp>
      <p:sp>
        <p:nvSpPr>
          <p:cNvPr id="21" name="!!Item1"/>
          <p:cNvSpPr txBox="1"/>
          <p:nvPr/>
        </p:nvSpPr>
        <p:spPr>
          <a:xfrm rot="16500000">
            <a:off x="-2825833" y="-112664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Problem</a:t>
            </a:r>
            <a:endParaRPr lang="en-US" sz="2400" dirty="0"/>
          </a:p>
        </p:txBody>
      </p:sp>
      <p:sp>
        <p:nvSpPr>
          <p:cNvPr id="22" name="!!Item2"/>
          <p:cNvSpPr txBox="1"/>
          <p:nvPr/>
        </p:nvSpPr>
        <p:spPr>
          <a:xfrm rot="17520000">
            <a:off x="-1590461" y="-83006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Twin</a:t>
            </a:r>
            <a:endParaRPr lang="en-US" sz="2400" dirty="0"/>
          </a:p>
        </p:txBody>
      </p:sp>
      <p:sp>
        <p:nvSpPr>
          <p:cNvPr id="23" name="!!Item3"/>
          <p:cNvSpPr txBox="1"/>
          <p:nvPr/>
        </p:nvSpPr>
        <p:spPr>
          <a:xfrm rot="18540000">
            <a:off x="-495782" y="-1852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Cost</a:t>
            </a:r>
            <a:endParaRPr lang="en-US" sz="2400" dirty="0"/>
          </a:p>
        </p:txBody>
      </p:sp>
      <p:sp>
        <p:nvSpPr>
          <p:cNvPr id="24" name="!!Item4"/>
          <p:cNvSpPr txBox="1"/>
          <p:nvPr/>
        </p:nvSpPr>
        <p:spPr>
          <a:xfrm rot="19560000">
            <a:off x="362538" y="751448"/>
            <a:ext cx="2194560" cy="548640"/>
          </a:xfrm>
          <a:prstGeom prst="rect">
            <a:avLst/>
          </a:prstGeom>
          <a:noFill/>
          <a:ln/>
        </p:spPr>
        <p:txBody>
          <a:bodyPr wrap="none" lIns="0" tIns="0" rIns="0" bIns="0" rtlCol="0" anchor="ctr"/>
          <a:lstStyle/>
          <a:p>
            <a:pPr marL="0" indent="0">
              <a:buNone/>
            </a:pPr>
            <a:r>
              <a:rPr lang="en-US" sz="2400" dirty="0">
                <a:solidFill>
                  <a:schemeClr val="accent4"/>
                </a:solidFill>
              </a:rPr>
              <a:t>Bench</a:t>
            </a:r>
            <a:endParaRPr lang="en-US" sz="2400" dirty="0"/>
          </a:p>
        </p:txBody>
      </p:sp>
      <p:sp>
        <p:nvSpPr>
          <p:cNvPr id="25" name="!!Item5"/>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Job</a:t>
            </a:r>
            <a:endParaRPr lang="en-US" sz="2400" dirty="0"/>
          </a:p>
        </p:txBody>
      </p:sp>
      <p:sp>
        <p:nvSpPr>
          <p:cNvPr id="26" name="!!Item6"/>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Next</a:t>
            </a:r>
            <a:endParaRPr lang="en-US" sz="3000" dirty="0"/>
          </a:p>
        </p:txBody>
      </p:sp>
      <p:sp>
        <p:nvSpPr>
          <p:cNvPr id="27" name="!!Item7"/>
          <p:cNvSpPr txBox="1"/>
          <p:nvPr/>
        </p:nvSpPr>
        <p:spPr>
          <a:xfrm rot="1020000">
            <a:off x="909492" y="441120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Close</a:t>
            </a:r>
            <a:endParaRPr lang="en-US" sz="2400" dirty="0"/>
          </a:p>
        </p:txBody>
      </p:sp>
      <p:sp>
        <p:nvSpPr>
          <p:cNvPr id="28" name="!!Hit0">
            <a:hlinkClick r:id="rId3" action="ppaction://hlinksldjump" tooltip="Go to Incident"/>
          </p:cNvPr>
          <p:cNvSpPr/>
          <p:nvPr/>
        </p:nvSpPr>
        <p:spPr>
          <a:xfrm rot="15480000">
            <a:off x="-4093938" y="-1049085"/>
            <a:ext cx="2194560" cy="548640"/>
          </a:xfrm>
          <a:prstGeom prst="rect">
            <a:avLst/>
          </a:prstGeom>
          <a:solidFill>
            <a:schemeClr val="tx1">
              <a:alpha val="0"/>
            </a:schemeClr>
          </a:solidFill>
          <a:ln/>
        </p:spPr>
        <p:txBody>
          <a:bodyPr/>
          <a:lstStyle/>
          <a:p>
            <a:endParaRPr lang="en-IN"/>
          </a:p>
        </p:txBody>
      </p:sp>
      <p:sp>
        <p:nvSpPr>
          <p:cNvPr id="29" name="!!Hit1">
            <a:hlinkClick r:id="rId4" action="ppaction://hlinksldjump" tooltip="Go to Problem"/>
          </p:cNvPr>
          <p:cNvSpPr/>
          <p:nvPr/>
        </p:nvSpPr>
        <p:spPr>
          <a:xfrm rot="16500000">
            <a:off x="-2825833" y="-1126646"/>
            <a:ext cx="2194560" cy="548640"/>
          </a:xfrm>
          <a:prstGeom prst="rect">
            <a:avLst/>
          </a:prstGeom>
          <a:solidFill>
            <a:schemeClr val="tx1">
              <a:alpha val="0"/>
            </a:schemeClr>
          </a:solidFill>
          <a:ln/>
        </p:spPr>
        <p:txBody>
          <a:bodyPr/>
          <a:lstStyle/>
          <a:p>
            <a:endParaRPr lang="en-IN"/>
          </a:p>
        </p:txBody>
      </p:sp>
      <p:sp>
        <p:nvSpPr>
          <p:cNvPr id="30" name="!!Hit2">
            <a:hlinkClick r:id="rId5" action="ppaction://hlinksldjump" tooltip="Go to Twin"/>
          </p:cNvPr>
          <p:cNvSpPr/>
          <p:nvPr/>
        </p:nvSpPr>
        <p:spPr>
          <a:xfrm rot="17520000">
            <a:off x="-1590461" y="-830060"/>
            <a:ext cx="2194560" cy="548640"/>
          </a:xfrm>
          <a:prstGeom prst="rect">
            <a:avLst/>
          </a:prstGeom>
          <a:solidFill>
            <a:schemeClr val="tx1">
              <a:alpha val="0"/>
            </a:schemeClr>
          </a:solidFill>
          <a:ln/>
        </p:spPr>
        <p:txBody>
          <a:bodyPr/>
          <a:lstStyle/>
          <a:p>
            <a:endParaRPr lang="en-IN"/>
          </a:p>
        </p:txBody>
      </p:sp>
      <p:sp>
        <p:nvSpPr>
          <p:cNvPr id="31" name="!!Hit3">
            <a:hlinkClick r:id="rId6" action="ppaction://hlinksldjump" tooltip="Go to Cost"/>
          </p:cNvPr>
          <p:cNvSpPr/>
          <p:nvPr/>
        </p:nvSpPr>
        <p:spPr>
          <a:xfrm rot="18540000">
            <a:off x="-495782" y="-185245"/>
            <a:ext cx="2194560" cy="548640"/>
          </a:xfrm>
          <a:prstGeom prst="rect">
            <a:avLst/>
          </a:prstGeom>
          <a:solidFill>
            <a:schemeClr val="tx1">
              <a:alpha val="0"/>
            </a:schemeClr>
          </a:solidFill>
          <a:ln/>
        </p:spPr>
        <p:txBody>
          <a:bodyPr/>
          <a:lstStyle/>
          <a:p>
            <a:endParaRPr lang="en-IN"/>
          </a:p>
        </p:txBody>
      </p:sp>
      <p:sp>
        <p:nvSpPr>
          <p:cNvPr id="32" name="!!Hit4">
            <a:hlinkClick r:id="rId7" action="ppaction://hlinksldjump" tooltip="Go to Bench"/>
          </p:cNvPr>
          <p:cNvSpPr/>
          <p:nvPr/>
        </p:nvSpPr>
        <p:spPr>
          <a:xfrm rot="19560000">
            <a:off x="362538" y="751448"/>
            <a:ext cx="2194560" cy="548640"/>
          </a:xfrm>
          <a:prstGeom prst="rect">
            <a:avLst/>
          </a:prstGeom>
          <a:solidFill>
            <a:schemeClr val="tx1">
              <a:alpha val="0"/>
            </a:schemeClr>
          </a:solidFill>
          <a:ln/>
        </p:spPr>
        <p:txBody>
          <a:bodyPr/>
          <a:lstStyle/>
          <a:p>
            <a:endParaRPr lang="en-IN"/>
          </a:p>
        </p:txBody>
      </p:sp>
      <p:sp>
        <p:nvSpPr>
          <p:cNvPr id="33" name="!!Hit5">
            <a:hlinkClick r:id="rId8" action="ppaction://hlinksldjump" tooltip="Go to Job"/>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34" name="!!Hit6">
            <a:hlinkClick r:id="rId9" action="ppaction://hlinksldjump" tooltip="Go to Next"/>
          </p:cNvPr>
          <p:cNvSpPr/>
          <p:nvPr/>
        </p:nvSpPr>
        <p:spPr>
          <a:xfrm>
            <a:off x="1097280" y="3154680"/>
            <a:ext cx="2194560" cy="548640"/>
          </a:xfrm>
          <a:prstGeom prst="rect">
            <a:avLst/>
          </a:prstGeom>
          <a:solidFill>
            <a:schemeClr val="tx1">
              <a:alpha val="0"/>
            </a:schemeClr>
          </a:solidFill>
          <a:ln/>
        </p:spPr>
        <p:txBody>
          <a:bodyPr/>
          <a:lstStyle/>
          <a:p>
            <a:endParaRPr lang="en-IN"/>
          </a:p>
        </p:txBody>
      </p:sp>
      <p:sp>
        <p:nvSpPr>
          <p:cNvPr id="35" name="!!Hit7">
            <a:hlinkClick r:id="rId10" action="ppaction://hlinksldjump" tooltip="Go to Close"/>
          </p:cNvPr>
          <p:cNvSpPr/>
          <p:nvPr/>
        </p:nvSpPr>
        <p:spPr>
          <a:xfrm rot="1020000">
            <a:off x="909492" y="4411200"/>
            <a:ext cx="2194560" cy="548640"/>
          </a:xfrm>
          <a:prstGeom prst="rect">
            <a:avLst/>
          </a:prstGeom>
          <a:solidFill>
            <a:schemeClr val="tx1">
              <a:alpha val="0"/>
            </a:schemeClr>
          </a:solidFill>
          <a:ln/>
        </p:spPr>
        <p:txBody>
          <a:bodyPr/>
          <a:lstStyle/>
          <a:p>
            <a:endParaRPr lang="en-IN"/>
          </a:p>
        </p:txBody>
      </p:sp>
      <p:sp>
        <p:nvSpPr>
          <p:cNvPr id="36"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7" name="!!PitchTitle"/>
          <p:cNvSpPr txBox="1"/>
          <p:nvPr/>
        </p:nvSpPr>
        <p:spPr>
          <a:xfrm>
            <a:off x="5760720" y="320040"/>
            <a:ext cx="5669280" cy="594360"/>
          </a:xfrm>
          <a:prstGeom prst="rect">
            <a:avLst/>
          </a:prstGeom>
          <a:noFill/>
          <a:ln/>
        </p:spPr>
        <p:txBody>
          <a:bodyPr wrap="square" lIns="0" tIns="0" rIns="0" bIns="0" rtlCol="0" anchor="t"/>
          <a:lstStyle/>
          <a:p>
            <a:pPr marL="0" indent="0">
              <a:buNone/>
            </a:pPr>
            <a:r>
              <a:rPr lang="en-US" sz="2800" b="1" dirty="0">
                <a:solidFill>
                  <a:schemeClr val="bg1"/>
                </a:solidFill>
                <a:latin typeface="Dubai" panose="020B0503030403030204" pitchFamily="34" charset="-78"/>
                <a:cs typeface="Dubai" panose="020B0503030403030204" pitchFamily="34" charset="-78"/>
              </a:rPr>
              <a:t>Better decisions per rupee</a:t>
            </a:r>
            <a:endParaRPr lang="en-US" sz="2800" dirty="0">
              <a:latin typeface="Dubai" panose="020B0503030403030204" pitchFamily="34" charset="-78"/>
              <a:cs typeface="Dubai" panose="020B0503030403030204" pitchFamily="34" charset="-78"/>
            </a:endParaRPr>
          </a:p>
        </p:txBody>
      </p:sp>
      <p:sp>
        <p:nvSpPr>
          <p:cNvPr id="38" name="NextReq"/>
          <p:cNvSpPr txBox="1"/>
          <p:nvPr/>
        </p:nvSpPr>
        <p:spPr>
          <a:xfrm>
            <a:off x="5760720" y="5440680"/>
            <a:ext cx="5669280" cy="502920"/>
          </a:xfrm>
          <a:prstGeom prst="rect">
            <a:avLst/>
          </a:prstGeom>
          <a:noFill/>
          <a:ln/>
        </p:spPr>
        <p:txBody>
          <a:bodyPr wrap="square" lIns="0" tIns="0" rIns="0" bIns="0" rtlCol="0" anchor="t"/>
          <a:lstStyle/>
          <a:p>
            <a:pPr marL="0" indent="0">
              <a:buNone/>
            </a:pPr>
            <a:r>
              <a:rPr lang="en-US" sz="1800" dirty="0">
                <a:solidFill>
                  <a:schemeClr val="bg1"/>
                </a:solidFill>
                <a:latin typeface="Dubai" panose="020B0503030403030204" pitchFamily="34" charset="-78"/>
                <a:cs typeface="Dubai" panose="020B0503030403030204" pitchFamily="34" charset="-78"/>
              </a:rPr>
              <a:t>Pilot request: authorised meter + maintenance records; supervised urban/rural trial.</a:t>
            </a:r>
            <a:endParaRPr lang="en-US" sz="1800" dirty="0">
              <a:latin typeface="Dubai" panose="020B0503030403030204" pitchFamily="34" charset="-78"/>
              <a:cs typeface="Dubai" panose="020B0503030403030204" pitchFamily="34" charset="-78"/>
            </a:endParaRPr>
          </a:p>
        </p:txBody>
      </p:sp>
      <p:sp>
        <p:nvSpPr>
          <p:cNvPr id="39" name="NextClose"/>
          <p:cNvSpPr txBox="1"/>
          <p:nvPr/>
        </p:nvSpPr>
        <p:spPr>
          <a:xfrm>
            <a:off x="5760720" y="6053328"/>
            <a:ext cx="5669280" cy="594360"/>
          </a:xfrm>
          <a:prstGeom prst="rect">
            <a:avLst/>
          </a:prstGeom>
          <a:noFill/>
          <a:ln/>
        </p:spPr>
        <p:txBody>
          <a:bodyPr wrap="square" lIns="0" tIns="0" rIns="0" bIns="0" rtlCol="0" anchor="t"/>
          <a:lstStyle/>
          <a:p>
            <a:pPr marL="0" indent="0">
              <a:buNone/>
            </a:pPr>
            <a:r>
              <a:rPr lang="en-US" sz="1800" b="1" dirty="0">
                <a:solidFill>
                  <a:schemeClr val="accent5"/>
                </a:solidFill>
                <a:latin typeface="Dubai" panose="020B0503030403030204" pitchFamily="34" charset="-78"/>
                <a:cs typeface="Dubai" panose="020B0503030403030204" pitchFamily="34" charset="-78"/>
              </a:rPr>
              <a:t>NeuraTwin Halo makes the next maintenance decision explainable, and its result checkable.</a:t>
            </a:r>
            <a:endParaRPr lang="en-US" sz="1800" dirty="0">
              <a:latin typeface="Dubai" panose="020B0503030403030204" pitchFamily="34" charset="-78"/>
              <a:cs typeface="Dubai" panose="020B0503030403030204" pitchFamily="34" charset="-78"/>
            </a:endParaRPr>
          </a:p>
        </p:txBody>
      </p:sp>
      <p:sp>
        <p:nvSpPr>
          <p:cNvPr id="40" name="S9c0"/>
          <p:cNvSpPr/>
          <p:nvPr/>
        </p:nvSpPr>
        <p:spPr>
          <a:xfrm>
            <a:off x="5760720" y="4446091"/>
            <a:ext cx="288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Forecast vs baselines</a:t>
            </a:r>
            <a:endParaRPr lang="en-US" sz="1400" dirty="0"/>
          </a:p>
        </p:txBody>
      </p:sp>
      <p:sp>
        <p:nvSpPr>
          <p:cNvPr id="41" name="S9c1"/>
          <p:cNvSpPr/>
          <p:nvPr/>
        </p:nvSpPr>
        <p:spPr>
          <a:xfrm>
            <a:off x="8732520" y="4446369"/>
            <a:ext cx="288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Useful warnings, fewer dispatches</a:t>
            </a:r>
            <a:endParaRPr lang="en-US" sz="1400" dirty="0"/>
          </a:p>
        </p:txBody>
      </p:sp>
      <p:sp>
        <p:nvSpPr>
          <p:cNvPr id="42" name="S9c2"/>
          <p:cNvSpPr/>
          <p:nvPr/>
        </p:nvSpPr>
        <p:spPr>
          <a:xfrm>
            <a:off x="5760720" y="4941984"/>
            <a:ext cx="288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Technician effort per closure</a:t>
            </a:r>
            <a:endParaRPr lang="en-US" sz="1400" dirty="0"/>
          </a:p>
        </p:txBody>
      </p:sp>
      <p:sp>
        <p:nvSpPr>
          <p:cNvPr id="43" name="S9c3"/>
          <p:cNvSpPr/>
          <p:nvPr/>
        </p:nvSpPr>
        <p:spPr>
          <a:xfrm>
            <a:off x="8732520" y="4941984"/>
            <a:ext cx="2880000" cy="360000"/>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1400" dirty="0">
                <a:solidFill>
                  <a:schemeClr val="accent5"/>
                </a:solidFill>
              </a:rPr>
              <a:t>●  </a:t>
            </a:r>
            <a:r>
              <a:rPr lang="en-US" sz="1400" dirty="0">
                <a:solidFill>
                  <a:schemeClr val="bg1"/>
                </a:solidFill>
              </a:rPr>
              <a:t>Installed + recurring cost</a:t>
            </a:r>
            <a:endParaRPr lang="en-US" sz="1400" dirty="0"/>
          </a:p>
        </p:txBody>
      </p:sp>
      <p:sp>
        <p:nvSpPr>
          <p:cNvPr id="15" name="!!HeroFrame"/>
          <p:cNvSpPr>
            <a:spLocks noGrp="1" noRot="1" noMove="1" noResize="1" noEditPoints="1" noAdjustHandles="1" noChangeArrowheads="1" noChangeShapeType="1"/>
          </p:cNvSpPr>
          <p:nvPr/>
        </p:nvSpPr>
        <p:spPr>
          <a:xfrm>
            <a:off x="5760720" y="1005840"/>
            <a:ext cx="5760000" cy="3240000"/>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w="12700">
            <a:solidFill>
              <a:schemeClr val="accent4"/>
            </a:solidFill>
            <a:prstDash val="dash"/>
          </a:ln>
        </p:spPr>
        <p:txBody>
          <a:bodyPr/>
          <a:lstStyle/>
          <a:p>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300"/>
                                        <p:tgtEl>
                                          <p:spTgt spid="40"/>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300"/>
                                        <p:tgtEl>
                                          <p:spTgt spid="41"/>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300"/>
                                        <p:tgtEl>
                                          <p:spTgt spid="42"/>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300"/>
                                        <p:tgtEl>
                                          <p:spTgt spid="43"/>
                                        </p:tgtEl>
                                      </p:cBhvr>
                                    </p:animEffect>
                                  </p:childTnLst>
                                </p:cTn>
                              </p:par>
                              <p:par>
                                <p:cTn id="17" presetID="10" presetClass="entr" presetSubtype="0" fill="hold" grpId="0" nodeType="withEffect">
                                  <p:stCondLst>
                                    <p:cond delay="48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3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1" grpId="0" animBg="1"/>
      <p:bldP spid="42" grpId="0" animBg="1"/>
      <p:bldP spid="4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chemeClr val="tx1"/>
          </a:solidFill>
          <a:ln/>
        </p:spPr>
        <p:txBody>
          <a:bodyPr/>
          <a:lstStyle/>
          <a:p>
            <a:endParaRPr lang="en-IN"/>
          </a:p>
        </p:txBody>
      </p:sp>
      <p:sp>
        <p:nvSpPr>
          <p:cNvPr id="3" name="!!DiaL"/>
          <p:cNvSpPr/>
          <p:nvPr/>
        </p:nvSpPr>
        <p:spPr>
          <a:xfrm rot="2700000">
            <a:off x="-518070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4" name="!!DiaR"/>
          <p:cNvSpPr/>
          <p:nvPr/>
        </p:nvSpPr>
        <p:spPr>
          <a:xfrm rot="2700000">
            <a:off x="-225462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5" name="!!DiaTL"/>
          <p:cNvSpPr/>
          <p:nvPr/>
        </p:nvSpPr>
        <p:spPr>
          <a:xfrm rot="2700000">
            <a:off x="-444918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6" name="!!DiaTR"/>
          <p:cNvSpPr/>
          <p:nvPr/>
        </p:nvSpPr>
        <p:spPr>
          <a:xfrm rot="2700000">
            <a:off x="-2986143" y="2180217"/>
            <a:ext cx="1034526" cy="1034526"/>
          </a:xfrm>
          <a:prstGeom prst="rect">
            <a:avLst/>
          </a:prstGeom>
          <a:solidFill>
            <a:schemeClr val="tx1"/>
          </a:solidFill>
          <a:ln w="9525">
            <a:solidFill>
              <a:schemeClr val="accent4"/>
            </a:solidFill>
            <a:prstDash val="solid"/>
          </a:ln>
        </p:spPr>
        <p:txBody>
          <a:bodyPr/>
          <a:lstStyle/>
          <a:p>
            <a:endParaRPr lang="en-IN"/>
          </a:p>
        </p:txBody>
      </p:sp>
      <p:sp>
        <p:nvSpPr>
          <p:cNvPr id="7" name="!!DiaBL"/>
          <p:cNvSpPr/>
          <p:nvPr/>
        </p:nvSpPr>
        <p:spPr>
          <a:xfrm rot="2700000">
            <a:off x="-444918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8" name="!!DiaBR"/>
          <p:cNvSpPr/>
          <p:nvPr/>
        </p:nvSpPr>
        <p:spPr>
          <a:xfrm rot="2700000">
            <a:off x="-2986143" y="3643257"/>
            <a:ext cx="1034526" cy="1034526"/>
          </a:xfrm>
          <a:prstGeom prst="rect">
            <a:avLst/>
          </a:prstGeom>
          <a:solidFill>
            <a:schemeClr val="tx1"/>
          </a:solidFill>
          <a:ln w="9525">
            <a:solidFill>
              <a:schemeClr val="accent4"/>
            </a:solidFill>
            <a:prstDash val="solid"/>
          </a:ln>
        </p:spPr>
        <p:txBody>
          <a:bodyPr/>
          <a:lstStyle/>
          <a:p>
            <a:endParaRPr lang="en-IN"/>
          </a:p>
        </p:txBody>
      </p:sp>
      <p:sp>
        <p:nvSpPr>
          <p:cNvPr id="9" name="!!DiaRing"/>
          <p:cNvSpPr/>
          <p:nvPr/>
        </p:nvSpPr>
        <p:spPr>
          <a:xfrm rot="2700000">
            <a:off x="-3717663" y="2911737"/>
            <a:ext cx="1034526" cy="1034526"/>
          </a:xfrm>
          <a:prstGeom prst="rect">
            <a:avLst/>
          </a:prstGeom>
          <a:solidFill>
            <a:schemeClr val="tx2"/>
          </a:solidFill>
          <a:ln w="9525">
            <a:solidFill>
              <a:schemeClr val="accent4"/>
            </a:solidFill>
            <a:prstDash val="solid"/>
          </a:ln>
        </p:spPr>
        <p:txBody>
          <a:bodyPr/>
          <a:lstStyle/>
          <a:p>
            <a:endParaRPr lang="en-IN"/>
          </a:p>
        </p:txBody>
      </p:sp>
      <p:sp>
        <p:nvSpPr>
          <p:cNvPr id="10" name="!!DiaCore"/>
          <p:cNvSpPr/>
          <p:nvPr/>
        </p:nvSpPr>
        <p:spPr>
          <a:xfrm rot="2700000">
            <a:off x="-3510758" y="3118642"/>
            <a:ext cx="620715" cy="620715"/>
          </a:xfrm>
          <a:prstGeom prst="rect">
            <a:avLst/>
          </a:prstGeom>
          <a:solidFill>
            <a:schemeClr val="tx1"/>
          </a:solidFill>
          <a:ln/>
        </p:spPr>
        <p:txBody>
          <a:bodyPr/>
          <a:lstStyle/>
          <a:p>
            <a:endParaRPr lang="en-IN"/>
          </a:p>
        </p:txBody>
      </p:sp>
      <p:sp>
        <p:nvSpPr>
          <p:cNvPr id="11" name="!!Circle"/>
          <p:cNvSpPr/>
          <p:nvPr/>
        </p:nvSpPr>
        <p:spPr>
          <a:xfrm>
            <a:off x="-8961120" y="-3429000"/>
            <a:ext cx="13716000" cy="13716000"/>
          </a:xfrm>
          <a:prstGeom prst="ellipse">
            <a:avLst/>
          </a:prstGeom>
          <a:solidFill>
            <a:schemeClr val="tx2"/>
          </a:solidFill>
          <a:ln w="12700">
            <a:solidFill>
              <a:srgbClr val="A6A6A6"/>
            </a:solidFill>
            <a:prstDash val="solid"/>
          </a:ln>
          <a:effectLst>
            <a:outerShdw blurRad="203200" dist="50800" dir="16200000" algn="bl" rotWithShape="0">
              <a:srgbClr val="FFFFFF">
                <a:alpha val="20000"/>
              </a:srgbClr>
            </a:outerShdw>
          </a:effectLst>
        </p:spPr>
        <p:txBody>
          <a:bodyPr/>
          <a:lstStyle/>
          <a:p>
            <a:endParaRPr lang="en-IN"/>
          </a:p>
        </p:txBody>
      </p:sp>
      <p:sp>
        <p:nvSpPr>
          <p:cNvPr id="12" name="!!PanelTop"/>
          <p:cNvSpPr/>
          <p:nvPr/>
        </p:nvSpPr>
        <p:spPr>
          <a:xfrm>
            <a:off x="13258800" y="0"/>
            <a:ext cx="5577840" cy="914400"/>
          </a:xfrm>
          <a:prstGeom prst="rect">
            <a:avLst/>
          </a:prstGeom>
          <a:solidFill>
            <a:schemeClr val="accent1"/>
          </a:solidFill>
          <a:ln/>
        </p:spPr>
        <p:txBody>
          <a:bodyPr/>
          <a:lstStyle/>
          <a:p>
            <a:endParaRPr lang="en-IN"/>
          </a:p>
        </p:txBody>
      </p:sp>
      <p:sp>
        <p:nvSpPr>
          <p:cNvPr id="13" name="!!PanelMid"/>
          <p:cNvSpPr/>
          <p:nvPr/>
        </p:nvSpPr>
        <p:spPr>
          <a:xfrm>
            <a:off x="5120640" y="274320"/>
            <a:ext cx="7223760" cy="6400800"/>
          </a:xfrm>
          <a:prstGeom prst="hexagon">
            <a:avLst/>
          </a:prstGeom>
          <a:solidFill>
            <a:schemeClr val="tx2"/>
          </a:solidFill>
          <a:ln/>
        </p:spPr>
        <p:txBody>
          <a:bodyPr/>
          <a:lstStyle/>
          <a:p>
            <a:endParaRPr lang="en-IN"/>
          </a:p>
        </p:txBody>
      </p:sp>
      <p:sp>
        <p:nvSpPr>
          <p:cNvPr id="14" name="!!PanelBot"/>
          <p:cNvSpPr/>
          <p:nvPr/>
        </p:nvSpPr>
        <p:spPr>
          <a:xfrm>
            <a:off x="13258800" y="5577840"/>
            <a:ext cx="5577840" cy="1280160"/>
          </a:xfrm>
          <a:prstGeom prst="rect">
            <a:avLst/>
          </a:prstGeom>
          <a:solidFill>
            <a:schemeClr val="accent1"/>
          </a:solidFill>
          <a:ln/>
        </p:spPr>
        <p:txBody>
          <a:bodyPr/>
          <a:lstStyle/>
          <a:p>
            <a:endParaRPr lang="en-IN"/>
          </a:p>
        </p:txBody>
      </p:sp>
      <p:sp>
        <p:nvSpPr>
          <p:cNvPr id="15" name="!!Item0"/>
          <p:cNvSpPr txBox="1"/>
          <p:nvPr/>
        </p:nvSpPr>
        <p:spPr>
          <a:xfrm rot="14460000">
            <a:off x="-5283957" y="-60415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Incident</a:t>
            </a:r>
            <a:endParaRPr lang="en-US" sz="2400" dirty="0"/>
          </a:p>
        </p:txBody>
      </p:sp>
      <p:sp>
        <p:nvSpPr>
          <p:cNvPr id="16" name="!!Item1"/>
          <p:cNvSpPr txBox="1"/>
          <p:nvPr/>
        </p:nvSpPr>
        <p:spPr>
          <a:xfrm rot="15480000">
            <a:off x="-4093938" y="-104908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Problem</a:t>
            </a:r>
            <a:endParaRPr lang="en-US" sz="2400" dirty="0"/>
          </a:p>
        </p:txBody>
      </p:sp>
      <p:sp>
        <p:nvSpPr>
          <p:cNvPr id="17" name="!!Item2"/>
          <p:cNvSpPr txBox="1"/>
          <p:nvPr/>
        </p:nvSpPr>
        <p:spPr>
          <a:xfrm rot="16500000">
            <a:off x="-2825833" y="-1126646"/>
            <a:ext cx="2194560" cy="548640"/>
          </a:xfrm>
          <a:prstGeom prst="rect">
            <a:avLst/>
          </a:prstGeom>
          <a:noFill/>
          <a:ln/>
        </p:spPr>
        <p:txBody>
          <a:bodyPr wrap="none" lIns="0" tIns="0" rIns="0" bIns="0" rtlCol="0" anchor="ctr"/>
          <a:lstStyle/>
          <a:p>
            <a:pPr marL="0" indent="0">
              <a:buNone/>
            </a:pPr>
            <a:r>
              <a:rPr lang="en-US" sz="2400" dirty="0">
                <a:solidFill>
                  <a:schemeClr val="accent4"/>
                </a:solidFill>
              </a:rPr>
              <a:t>Twin</a:t>
            </a:r>
            <a:endParaRPr lang="en-US" sz="2400" dirty="0"/>
          </a:p>
        </p:txBody>
      </p:sp>
      <p:sp>
        <p:nvSpPr>
          <p:cNvPr id="18" name="!!Item3"/>
          <p:cNvSpPr txBox="1"/>
          <p:nvPr/>
        </p:nvSpPr>
        <p:spPr>
          <a:xfrm rot="17520000">
            <a:off x="-1590461" y="-830060"/>
            <a:ext cx="2194560" cy="548640"/>
          </a:xfrm>
          <a:prstGeom prst="rect">
            <a:avLst/>
          </a:prstGeom>
          <a:noFill/>
          <a:ln/>
        </p:spPr>
        <p:txBody>
          <a:bodyPr wrap="none" lIns="0" tIns="0" rIns="0" bIns="0" rtlCol="0" anchor="ctr"/>
          <a:lstStyle/>
          <a:p>
            <a:pPr marL="0" indent="0">
              <a:buNone/>
            </a:pPr>
            <a:r>
              <a:rPr lang="en-US" sz="2400" dirty="0">
                <a:solidFill>
                  <a:schemeClr val="accent4"/>
                </a:solidFill>
              </a:rPr>
              <a:t>Cost</a:t>
            </a:r>
            <a:endParaRPr lang="en-US" sz="2400" dirty="0"/>
          </a:p>
        </p:txBody>
      </p:sp>
      <p:sp>
        <p:nvSpPr>
          <p:cNvPr id="19" name="!!Item4"/>
          <p:cNvSpPr txBox="1"/>
          <p:nvPr/>
        </p:nvSpPr>
        <p:spPr>
          <a:xfrm rot="18540000">
            <a:off x="-495782" y="-185245"/>
            <a:ext cx="2194560" cy="548640"/>
          </a:xfrm>
          <a:prstGeom prst="rect">
            <a:avLst/>
          </a:prstGeom>
          <a:noFill/>
          <a:ln/>
        </p:spPr>
        <p:txBody>
          <a:bodyPr wrap="none" lIns="0" tIns="0" rIns="0" bIns="0" rtlCol="0" anchor="ctr"/>
          <a:lstStyle/>
          <a:p>
            <a:pPr marL="0" indent="0">
              <a:buNone/>
            </a:pPr>
            <a:r>
              <a:rPr lang="en-US" sz="2400" dirty="0">
                <a:solidFill>
                  <a:schemeClr val="accent4"/>
                </a:solidFill>
              </a:rPr>
              <a:t>Bench</a:t>
            </a:r>
            <a:endParaRPr lang="en-US" sz="2400" dirty="0"/>
          </a:p>
        </p:txBody>
      </p:sp>
      <p:sp>
        <p:nvSpPr>
          <p:cNvPr id="20" name="!!Item5"/>
          <p:cNvSpPr txBox="1"/>
          <p:nvPr/>
        </p:nvSpPr>
        <p:spPr>
          <a:xfrm rot="19560000">
            <a:off x="362538" y="751448"/>
            <a:ext cx="2194560" cy="548640"/>
          </a:xfrm>
          <a:prstGeom prst="rect">
            <a:avLst/>
          </a:prstGeom>
          <a:noFill/>
          <a:ln/>
        </p:spPr>
        <p:txBody>
          <a:bodyPr wrap="none" lIns="0" tIns="0" rIns="0" bIns="0" rtlCol="0" anchor="ctr"/>
          <a:lstStyle/>
          <a:p>
            <a:pPr marL="0" indent="0">
              <a:buNone/>
            </a:pPr>
            <a:r>
              <a:rPr lang="en-US" sz="2400" dirty="0">
                <a:solidFill>
                  <a:schemeClr val="accent4"/>
                </a:solidFill>
              </a:rPr>
              <a:t>Job</a:t>
            </a:r>
            <a:endParaRPr lang="en-US" sz="2400" dirty="0"/>
          </a:p>
        </p:txBody>
      </p:sp>
      <p:sp>
        <p:nvSpPr>
          <p:cNvPr id="21" name="!!Item6"/>
          <p:cNvSpPr txBox="1"/>
          <p:nvPr/>
        </p:nvSpPr>
        <p:spPr>
          <a:xfrm rot="20580000">
            <a:off x="909492" y="1898160"/>
            <a:ext cx="2194560" cy="548640"/>
          </a:xfrm>
          <a:prstGeom prst="rect">
            <a:avLst/>
          </a:prstGeom>
          <a:noFill/>
          <a:ln/>
        </p:spPr>
        <p:txBody>
          <a:bodyPr wrap="none" lIns="0" tIns="0" rIns="0" bIns="0" rtlCol="0" anchor="ctr"/>
          <a:lstStyle/>
          <a:p>
            <a:pPr marL="0" indent="0">
              <a:buNone/>
            </a:pPr>
            <a:r>
              <a:rPr lang="en-US" sz="2400" dirty="0">
                <a:solidFill>
                  <a:schemeClr val="accent3"/>
                </a:solidFill>
              </a:rPr>
              <a:t>Next</a:t>
            </a:r>
            <a:endParaRPr lang="en-US" sz="2400" dirty="0"/>
          </a:p>
        </p:txBody>
      </p:sp>
      <p:sp>
        <p:nvSpPr>
          <p:cNvPr id="22" name="!!Item7"/>
          <p:cNvSpPr txBox="1"/>
          <p:nvPr/>
        </p:nvSpPr>
        <p:spPr>
          <a:xfrm>
            <a:off x="1097280" y="3154680"/>
            <a:ext cx="2194560" cy="548640"/>
          </a:xfrm>
          <a:prstGeom prst="rect">
            <a:avLst/>
          </a:prstGeom>
          <a:noFill/>
          <a:ln/>
        </p:spPr>
        <p:txBody>
          <a:bodyPr wrap="none" lIns="0" tIns="0" rIns="0" bIns="0" rtlCol="0" anchor="ctr"/>
          <a:lstStyle/>
          <a:p>
            <a:pPr marL="0" indent="0">
              <a:buNone/>
            </a:pPr>
            <a:r>
              <a:rPr lang="en-US" sz="3000" dirty="0">
                <a:solidFill>
                  <a:schemeClr val="bg1"/>
                </a:solidFill>
              </a:rPr>
              <a:t>Close</a:t>
            </a:r>
            <a:endParaRPr lang="en-US" sz="3000" dirty="0"/>
          </a:p>
        </p:txBody>
      </p:sp>
      <p:sp>
        <p:nvSpPr>
          <p:cNvPr id="23" name="!!Hit0">
            <a:hlinkClick r:id="rId3" action="ppaction://hlinksldjump" tooltip="Go to Incident"/>
          </p:cNvPr>
          <p:cNvSpPr/>
          <p:nvPr/>
        </p:nvSpPr>
        <p:spPr>
          <a:xfrm rot="14460000">
            <a:off x="-5283957" y="-604156"/>
            <a:ext cx="2194560" cy="548640"/>
          </a:xfrm>
          <a:prstGeom prst="rect">
            <a:avLst/>
          </a:prstGeom>
          <a:solidFill>
            <a:schemeClr val="tx1">
              <a:alpha val="0"/>
            </a:schemeClr>
          </a:solidFill>
          <a:ln/>
        </p:spPr>
        <p:txBody>
          <a:bodyPr/>
          <a:lstStyle/>
          <a:p>
            <a:endParaRPr lang="en-IN"/>
          </a:p>
        </p:txBody>
      </p:sp>
      <p:sp>
        <p:nvSpPr>
          <p:cNvPr id="24" name="!!Hit1">
            <a:hlinkClick r:id="rId4" action="ppaction://hlinksldjump" tooltip="Go to Problem"/>
          </p:cNvPr>
          <p:cNvSpPr/>
          <p:nvPr/>
        </p:nvSpPr>
        <p:spPr>
          <a:xfrm rot="15480000">
            <a:off x="-4093938" y="-1049085"/>
            <a:ext cx="2194560" cy="548640"/>
          </a:xfrm>
          <a:prstGeom prst="rect">
            <a:avLst/>
          </a:prstGeom>
          <a:solidFill>
            <a:schemeClr val="tx1">
              <a:alpha val="0"/>
            </a:schemeClr>
          </a:solidFill>
          <a:ln/>
        </p:spPr>
        <p:txBody>
          <a:bodyPr/>
          <a:lstStyle/>
          <a:p>
            <a:endParaRPr lang="en-IN"/>
          </a:p>
        </p:txBody>
      </p:sp>
      <p:sp>
        <p:nvSpPr>
          <p:cNvPr id="25" name="!!Hit2">
            <a:hlinkClick r:id="rId5" action="ppaction://hlinksldjump" tooltip="Go to Twin"/>
          </p:cNvPr>
          <p:cNvSpPr/>
          <p:nvPr/>
        </p:nvSpPr>
        <p:spPr>
          <a:xfrm rot="16500000">
            <a:off x="-2825833" y="-1126646"/>
            <a:ext cx="2194560" cy="548640"/>
          </a:xfrm>
          <a:prstGeom prst="rect">
            <a:avLst/>
          </a:prstGeom>
          <a:solidFill>
            <a:schemeClr val="tx1">
              <a:alpha val="0"/>
            </a:schemeClr>
          </a:solidFill>
          <a:ln/>
        </p:spPr>
        <p:txBody>
          <a:bodyPr/>
          <a:lstStyle/>
          <a:p>
            <a:endParaRPr lang="en-IN"/>
          </a:p>
        </p:txBody>
      </p:sp>
      <p:sp>
        <p:nvSpPr>
          <p:cNvPr id="26" name="!!Hit3">
            <a:hlinkClick r:id="rId6" action="ppaction://hlinksldjump" tooltip="Go to Cost"/>
          </p:cNvPr>
          <p:cNvSpPr/>
          <p:nvPr/>
        </p:nvSpPr>
        <p:spPr>
          <a:xfrm rot="17520000">
            <a:off x="-1590461" y="-830060"/>
            <a:ext cx="2194560" cy="548640"/>
          </a:xfrm>
          <a:prstGeom prst="rect">
            <a:avLst/>
          </a:prstGeom>
          <a:solidFill>
            <a:schemeClr val="tx1">
              <a:alpha val="0"/>
            </a:schemeClr>
          </a:solidFill>
          <a:ln/>
        </p:spPr>
        <p:txBody>
          <a:bodyPr/>
          <a:lstStyle/>
          <a:p>
            <a:endParaRPr lang="en-IN"/>
          </a:p>
        </p:txBody>
      </p:sp>
      <p:sp>
        <p:nvSpPr>
          <p:cNvPr id="27" name="!!Hit4">
            <a:hlinkClick r:id="rId7" action="ppaction://hlinksldjump" tooltip="Go to Bench"/>
          </p:cNvPr>
          <p:cNvSpPr/>
          <p:nvPr/>
        </p:nvSpPr>
        <p:spPr>
          <a:xfrm rot="18540000">
            <a:off x="-495782" y="-185245"/>
            <a:ext cx="2194560" cy="548640"/>
          </a:xfrm>
          <a:prstGeom prst="rect">
            <a:avLst/>
          </a:prstGeom>
          <a:solidFill>
            <a:schemeClr val="tx1">
              <a:alpha val="0"/>
            </a:schemeClr>
          </a:solidFill>
          <a:ln/>
        </p:spPr>
        <p:txBody>
          <a:bodyPr/>
          <a:lstStyle/>
          <a:p>
            <a:endParaRPr lang="en-IN"/>
          </a:p>
        </p:txBody>
      </p:sp>
      <p:sp>
        <p:nvSpPr>
          <p:cNvPr id="28" name="!!Hit5">
            <a:hlinkClick r:id="rId8" action="ppaction://hlinksldjump" tooltip="Go to Job"/>
          </p:cNvPr>
          <p:cNvSpPr/>
          <p:nvPr/>
        </p:nvSpPr>
        <p:spPr>
          <a:xfrm rot="19560000">
            <a:off x="362538" y="751448"/>
            <a:ext cx="2194560" cy="548640"/>
          </a:xfrm>
          <a:prstGeom prst="rect">
            <a:avLst/>
          </a:prstGeom>
          <a:solidFill>
            <a:schemeClr val="tx1">
              <a:alpha val="0"/>
            </a:schemeClr>
          </a:solidFill>
          <a:ln/>
        </p:spPr>
        <p:txBody>
          <a:bodyPr/>
          <a:lstStyle/>
          <a:p>
            <a:endParaRPr lang="en-IN"/>
          </a:p>
        </p:txBody>
      </p:sp>
      <p:sp>
        <p:nvSpPr>
          <p:cNvPr id="29" name="!!Hit6">
            <a:hlinkClick r:id="rId9" action="ppaction://hlinksldjump" tooltip="Go to Next"/>
          </p:cNvPr>
          <p:cNvSpPr/>
          <p:nvPr/>
        </p:nvSpPr>
        <p:spPr>
          <a:xfrm rot="20580000">
            <a:off x="909492" y="1898160"/>
            <a:ext cx="2194560" cy="548640"/>
          </a:xfrm>
          <a:prstGeom prst="rect">
            <a:avLst/>
          </a:prstGeom>
          <a:solidFill>
            <a:schemeClr val="tx1">
              <a:alpha val="0"/>
            </a:schemeClr>
          </a:solidFill>
          <a:ln/>
        </p:spPr>
        <p:txBody>
          <a:bodyPr/>
          <a:lstStyle/>
          <a:p>
            <a:endParaRPr lang="en-IN"/>
          </a:p>
        </p:txBody>
      </p:sp>
      <p:sp>
        <p:nvSpPr>
          <p:cNvPr id="30" name="!!Hit7">
            <a:hlinkClick r:id="rId10" action="ppaction://hlinksldjump" tooltip="Go to Close"/>
          </p:cNvPr>
          <p:cNvSpPr/>
          <p:nvPr/>
        </p:nvSpPr>
        <p:spPr>
          <a:xfrm>
            <a:off x="1097280" y="3154680"/>
            <a:ext cx="2194560" cy="548640"/>
          </a:xfrm>
          <a:prstGeom prst="rect">
            <a:avLst/>
          </a:prstGeom>
          <a:solidFill>
            <a:schemeClr val="tx1">
              <a:alpha val="0"/>
            </a:schemeClr>
          </a:solidFill>
          <a:ln/>
        </p:spPr>
        <p:txBody>
          <a:bodyPr/>
          <a:lstStyle/>
          <a:p>
            <a:endParaRPr lang="en-IN" dirty="0">
              <a:latin typeface="Agency FB" panose="020B0503020202020204" pitchFamily="34" charset="0"/>
            </a:endParaRPr>
          </a:p>
        </p:txBody>
      </p:sp>
      <p:sp>
        <p:nvSpPr>
          <p:cNvPr id="31" name="!!Marker"/>
          <p:cNvSpPr/>
          <p:nvPr/>
        </p:nvSpPr>
        <p:spPr>
          <a:xfrm rot="5400000">
            <a:off x="411480" y="3291840"/>
            <a:ext cx="274320" cy="274320"/>
          </a:xfrm>
          <a:prstGeom prst="triangle">
            <a:avLst/>
          </a:prstGeom>
          <a:solidFill>
            <a:schemeClr val="bg1"/>
          </a:solidFill>
          <a:ln/>
        </p:spPr>
        <p:txBody>
          <a:bodyPr/>
          <a:lstStyle/>
          <a:p>
            <a:endParaRPr lang="en-IN"/>
          </a:p>
        </p:txBody>
      </p:sp>
      <p:sp>
        <p:nvSpPr>
          <p:cNvPr id="32" name="!!PitchTitle"/>
          <p:cNvSpPr txBox="1"/>
          <p:nvPr/>
        </p:nvSpPr>
        <p:spPr>
          <a:xfrm>
            <a:off x="5760720" y="320040"/>
            <a:ext cx="5669280" cy="822960"/>
          </a:xfrm>
          <a:prstGeom prst="rect">
            <a:avLst/>
          </a:prstGeom>
          <a:noFill/>
          <a:ln/>
        </p:spPr>
        <p:txBody>
          <a:bodyPr wrap="square" lIns="0" tIns="0" rIns="0" bIns="0" rtlCol="0" anchor="t"/>
          <a:lstStyle/>
          <a:p>
            <a:pPr marL="0" indent="0">
              <a:buNone/>
            </a:pPr>
            <a:r>
              <a:rPr lang="en-US" sz="4400" b="1" dirty="0">
                <a:solidFill>
                  <a:schemeClr val="bg1"/>
                </a:solidFill>
                <a:latin typeface="Dubai" panose="020B0503030403030204" pitchFamily="34" charset="-78"/>
                <a:cs typeface="Dubai" panose="020B0503030403030204" pitchFamily="34" charset="-78"/>
              </a:rPr>
              <a:t>Thank you.</a:t>
            </a:r>
            <a:endParaRPr lang="en-US" sz="4400" dirty="0">
              <a:latin typeface="Dubai" panose="020B0503030403030204" pitchFamily="34" charset="-78"/>
              <a:cs typeface="Dubai" panose="020B0503030403030204" pitchFamily="34" charset="-78"/>
            </a:endParaRPr>
          </a:p>
        </p:txBody>
      </p:sp>
      <p:sp>
        <p:nvSpPr>
          <p:cNvPr id="33" name="TeamLine"/>
          <p:cNvSpPr txBox="1"/>
          <p:nvPr/>
        </p:nvSpPr>
        <p:spPr>
          <a:xfrm>
            <a:off x="5760720" y="1188720"/>
            <a:ext cx="5669280" cy="320040"/>
          </a:xfrm>
          <a:prstGeom prst="rect">
            <a:avLst/>
          </a:prstGeom>
          <a:noFill/>
          <a:ln/>
        </p:spPr>
        <p:txBody>
          <a:bodyPr wrap="square" lIns="0" tIns="0" rIns="0" bIns="0" rtlCol="0" anchor="t"/>
          <a:lstStyle/>
          <a:p>
            <a:pPr marL="0" indent="0">
              <a:buNone/>
            </a:pPr>
            <a:r>
              <a:rPr lang="en-US" sz="1800" b="1" dirty="0">
                <a:solidFill>
                  <a:schemeClr val="accent5"/>
                </a:solidFill>
                <a:latin typeface="Agency FB" panose="020B0503020202020204" pitchFamily="34" charset="0"/>
              </a:rPr>
              <a:t>NEURA RANGERS · NeuraTwin Halo · CPRI Track 2</a:t>
            </a:r>
            <a:endParaRPr lang="en-US" sz="1800" dirty="0">
              <a:latin typeface="Agency FB" panose="020B0503020202020204" pitchFamily="34" charset="0"/>
            </a:endParaRPr>
          </a:p>
        </p:txBody>
      </p:sp>
      <p:sp>
        <p:nvSpPr>
          <p:cNvPr id="34" name="QLine"/>
          <p:cNvSpPr txBox="1"/>
          <p:nvPr/>
        </p:nvSpPr>
        <p:spPr>
          <a:xfrm>
            <a:off x="5760720" y="5577840"/>
            <a:ext cx="5669280" cy="365760"/>
          </a:xfrm>
          <a:prstGeom prst="rect">
            <a:avLst/>
          </a:prstGeom>
          <a:noFill/>
          <a:ln/>
        </p:spPr>
        <p:txBody>
          <a:bodyPr wrap="square" lIns="0" tIns="0" rIns="0" bIns="0" rtlCol="0" anchor="t"/>
          <a:lstStyle/>
          <a:p>
            <a:pPr marL="0" indent="0">
              <a:buNone/>
            </a:pPr>
            <a:r>
              <a:rPr lang="en-US" sz="2000" b="1" dirty="0">
                <a:solidFill>
                  <a:schemeClr val="bg1"/>
                </a:solidFill>
                <a:latin typeface="Dubai" panose="020B0503030403030204" pitchFamily="34" charset="-78"/>
                <a:cs typeface="Dubai" panose="020B0503030403030204" pitchFamily="34" charset="-78"/>
              </a:rPr>
              <a:t>Questions &amp; live demonstration</a:t>
            </a:r>
            <a:endParaRPr lang="en-US" sz="2000" dirty="0">
              <a:latin typeface="Dubai" panose="020B0503030403030204" pitchFamily="34" charset="-78"/>
              <a:cs typeface="Dubai" panose="020B0503030403030204" pitchFamily="34" charset="-78"/>
            </a:endParaRPr>
          </a:p>
        </p:txBody>
      </p:sp>
      <p:sp>
        <p:nvSpPr>
          <p:cNvPr id="35" name="LinkLine"/>
          <p:cNvSpPr txBox="1"/>
          <p:nvPr/>
        </p:nvSpPr>
        <p:spPr>
          <a:xfrm>
            <a:off x="5760720" y="6016752"/>
            <a:ext cx="5669280" cy="320040"/>
          </a:xfrm>
          <a:prstGeom prst="rect">
            <a:avLst/>
          </a:prstGeom>
          <a:noFill/>
          <a:ln/>
        </p:spPr>
        <p:txBody>
          <a:bodyPr wrap="square" lIns="0" tIns="0" rIns="0" bIns="0" rtlCol="0" anchor="t"/>
          <a:lstStyle/>
          <a:p>
            <a:pPr marL="0" indent="0">
              <a:buNone/>
            </a:pPr>
            <a:r>
              <a:rPr lang="en-US" sz="1800" u="sng" dirty="0">
                <a:solidFill>
                  <a:schemeClr val="accent5"/>
                </a:solidFill>
                <a:latin typeface="Agency FB" panose="020B0503020202020204" pitchFamily="34" charset="0"/>
                <a:hlinkClick r:id="rId11">
                  <a:extLst>
                    <a:ext uri="{A12FA001-AC4F-418D-AE19-62706E023703}">
                      <ahyp:hlinkClr xmlns:ahyp="http://schemas.microsoft.com/office/drawing/2018/hyperlinkcolor" val="tx"/>
                    </a:ext>
                  </a:extLst>
                </a:hlinkClick>
              </a:rPr>
              <a:t>https://github.com/Induj1/neuratwin-halo</a:t>
            </a:r>
            <a:endParaRPr lang="en-US" sz="1800" dirty="0">
              <a:latin typeface="Agency FB" panose="020B0503020202020204" pitchFamily="34" charset="0"/>
            </a:endParaRPr>
          </a:p>
        </p:txBody>
      </p:sp>
      <p:sp>
        <p:nvSpPr>
          <p:cNvPr id="36" name="S10c0"/>
          <p:cNvSpPr/>
          <p:nvPr/>
        </p:nvSpPr>
        <p:spPr>
          <a:xfrm>
            <a:off x="5760720" y="1783080"/>
            <a:ext cx="5669280" cy="841248"/>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2200" b="1" dirty="0">
                <a:solidFill>
                  <a:schemeClr val="accent5"/>
                </a:solidFill>
                <a:latin typeface="Arial Narrow" panose="020B0606020202030204" pitchFamily="34" charset="0"/>
              </a:rPr>
              <a:t>1  </a:t>
            </a:r>
            <a:r>
              <a:rPr lang="en-US" sz="2200" b="1" dirty="0">
                <a:solidFill>
                  <a:schemeClr val="bg1"/>
                </a:solidFill>
                <a:latin typeface="Arial Narrow" panose="020B0606020202030204" pitchFamily="34" charset="0"/>
              </a:rPr>
              <a:t>Know what needs attention</a:t>
            </a:r>
            <a:endParaRPr lang="en-US" sz="1800" dirty="0">
              <a:latin typeface="Arial Narrow" panose="020B0606020202030204" pitchFamily="34" charset="0"/>
            </a:endParaRPr>
          </a:p>
          <a:p>
            <a:pPr marL="0" indent="0" algn="l">
              <a:buNone/>
            </a:pPr>
            <a:r>
              <a:rPr lang="en-US" sz="1800" dirty="0">
                <a:solidFill>
                  <a:schemeClr val="bg2"/>
                </a:solidFill>
                <a:latin typeface="Arial Narrow" panose="020B0606020202030204" pitchFamily="34" charset="0"/>
              </a:rPr>
              <a:t>Evidence shown with its freshness</a:t>
            </a:r>
            <a:endParaRPr lang="en-US" sz="1800" dirty="0">
              <a:latin typeface="Arial Narrow" panose="020B0606020202030204" pitchFamily="34" charset="0"/>
            </a:endParaRPr>
          </a:p>
        </p:txBody>
      </p:sp>
      <p:sp>
        <p:nvSpPr>
          <p:cNvPr id="37" name="S10c1"/>
          <p:cNvSpPr/>
          <p:nvPr/>
        </p:nvSpPr>
        <p:spPr>
          <a:xfrm>
            <a:off x="5760720" y="2697480"/>
            <a:ext cx="5669280" cy="841248"/>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2200" b="1" dirty="0">
                <a:solidFill>
                  <a:schemeClr val="accent5"/>
                </a:solidFill>
                <a:latin typeface="Arial Narrow" panose="020B0606020202030204" pitchFamily="34" charset="0"/>
              </a:rPr>
              <a:t>2  </a:t>
            </a:r>
            <a:r>
              <a:rPr lang="en-US" sz="2200" b="1" dirty="0">
                <a:solidFill>
                  <a:schemeClr val="bg1"/>
                </a:solidFill>
                <a:latin typeface="Arial Narrow" panose="020B0606020202030204" pitchFamily="34" charset="0"/>
              </a:rPr>
              <a:t>See what an action would do</a:t>
            </a:r>
            <a:endParaRPr lang="en-US" sz="1800" dirty="0">
              <a:latin typeface="Arial Narrow" panose="020B0606020202030204" pitchFamily="34" charset="0"/>
            </a:endParaRPr>
          </a:p>
          <a:p>
            <a:pPr marL="0" indent="0" algn="l">
              <a:buNone/>
            </a:pPr>
            <a:r>
              <a:rPr lang="en-US" sz="1800" dirty="0">
                <a:solidFill>
                  <a:schemeClr val="bg2"/>
                </a:solidFill>
                <a:latin typeface="Arial Narrow" panose="020B0606020202030204" pitchFamily="34" charset="0"/>
              </a:rPr>
              <a:t>Forecasts saved before the change</a:t>
            </a:r>
            <a:endParaRPr lang="en-US" sz="1800" dirty="0">
              <a:latin typeface="Arial Narrow" panose="020B0606020202030204" pitchFamily="34" charset="0"/>
            </a:endParaRPr>
          </a:p>
        </p:txBody>
      </p:sp>
      <p:sp>
        <p:nvSpPr>
          <p:cNvPr id="38" name="S10c2"/>
          <p:cNvSpPr/>
          <p:nvPr/>
        </p:nvSpPr>
        <p:spPr>
          <a:xfrm>
            <a:off x="5760720" y="3611880"/>
            <a:ext cx="5669280" cy="841248"/>
          </a:xfrm>
          <a:prstGeom prst="rect">
            <a:avLst/>
          </a:prstGeom>
          <a:solidFill>
            <a:schemeClr val="accent1"/>
          </a:solidFill>
          <a:ln w="9525">
            <a:solidFill>
              <a:schemeClr val="accent4"/>
            </a:solidFill>
          </a:ln>
        </p:spPr>
        <p:txBody>
          <a:bodyPr wrap="square" lIns="101600" tIns="101600" rIns="101600" bIns="101600" rtlCol="0" anchor="ctr"/>
          <a:lstStyle/>
          <a:p>
            <a:pPr marL="0" indent="0" algn="l">
              <a:buNone/>
            </a:pPr>
            <a:r>
              <a:rPr lang="en-US" sz="2200" b="1" dirty="0">
                <a:solidFill>
                  <a:schemeClr val="accent5"/>
                </a:solidFill>
                <a:latin typeface="Arial Narrow" panose="020B0606020202030204" pitchFamily="34" charset="0"/>
              </a:rPr>
              <a:t>3  </a:t>
            </a:r>
            <a:r>
              <a:rPr lang="en-US" sz="2200" b="1" dirty="0">
                <a:solidFill>
                  <a:schemeClr val="bg1"/>
                </a:solidFill>
                <a:latin typeface="Arial Narrow" panose="020B0606020202030204" pitchFamily="34" charset="0"/>
              </a:rPr>
              <a:t>Check what actually happened</a:t>
            </a:r>
            <a:endParaRPr lang="en-US" sz="1800" dirty="0">
              <a:latin typeface="Arial Narrow" panose="020B0606020202030204" pitchFamily="34" charset="0"/>
            </a:endParaRPr>
          </a:p>
          <a:p>
            <a:pPr marL="0" indent="0" algn="l">
              <a:buNone/>
            </a:pPr>
            <a:r>
              <a:rPr lang="en-US" sz="1800" dirty="0">
                <a:solidFill>
                  <a:schemeClr val="bg2"/>
                </a:solidFill>
                <a:latin typeface="Arial Narrow" panose="020B0606020202030204" pitchFamily="34" charset="0"/>
              </a:rPr>
              <a:t>Follow-up evidence closes the job</a:t>
            </a:r>
            <a:endParaRPr lang="en-US" sz="1800" dirty="0">
              <a:latin typeface="Arial Narrow" panose="020B0606020202030204" pitchFamily="34" charset="0"/>
            </a:endParaRPr>
          </a:p>
        </p:txBody>
      </p:sp>
      <p:sp>
        <p:nvSpPr>
          <p:cNvPr id="39" name="S10key"/>
          <p:cNvSpPr txBox="1"/>
          <p:nvPr/>
        </p:nvSpPr>
        <p:spPr>
          <a:xfrm>
            <a:off x="5760720" y="4754880"/>
            <a:ext cx="5669280" cy="685800"/>
          </a:xfrm>
          <a:prstGeom prst="rect">
            <a:avLst/>
          </a:prstGeom>
          <a:noFill/>
          <a:ln/>
        </p:spPr>
        <p:txBody>
          <a:bodyPr wrap="square" lIns="0" tIns="0" rIns="0" bIns="0" rtlCol="0" anchor="t"/>
          <a:lstStyle/>
          <a:p>
            <a:pPr marL="0" indent="0">
              <a:buNone/>
            </a:pPr>
            <a:r>
              <a:rPr lang="en-US" sz="2200" b="1" dirty="0">
                <a:solidFill>
                  <a:schemeClr val="accent5"/>
                </a:solidFill>
                <a:latin typeface="Dubai" panose="020B0503030403030204" pitchFamily="34" charset="-78"/>
                <a:cs typeface="Dubai" panose="020B0503030403030204" pitchFamily="34" charset="-78"/>
              </a:rPr>
              <a:t>From transformer readings to decisions backed by evidence.</a:t>
            </a:r>
            <a:endParaRPr lang="en-US" sz="2200" dirty="0">
              <a:latin typeface="Dubai" panose="020B0503030403030204" pitchFamily="34" charset="-78"/>
              <a:cs typeface="Dubai" panose="020B0503030403030204" pitchFamily="34"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300"/>
                                        <p:tgtEl>
                                          <p:spTgt spid="36"/>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300"/>
                                        <p:tgtEl>
                                          <p:spTgt spid="37"/>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300"/>
                                        <p:tgtEl>
                                          <p:spTgt spid="38"/>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
</file>

<file path=ppt/theme/theme1.xml><?xml version="1.0" encoding="utf-8"?>
<a:theme xmlns:a="http://schemas.openxmlformats.org/drawingml/2006/main" name="HaloNoir">
  <a:themeElements>
    <a:clrScheme name="HaloNoir">
      <a:dk1>
        <a:srgbClr val="000000"/>
      </a:dk1>
      <a:lt1>
        <a:srgbClr val="FFFFFF"/>
      </a:lt1>
      <a:dk2>
        <a:srgbClr val="141414"/>
      </a:dk2>
      <a:lt2>
        <a:srgbClr val="D9D9D9"/>
      </a:lt2>
      <a:accent1>
        <a:srgbClr val="1F1F1F"/>
      </a:accent1>
      <a:accent2>
        <a:srgbClr val="262626"/>
      </a:accent2>
      <a:accent3>
        <a:srgbClr val="8C8C8C"/>
      </a:accent3>
      <a:accent4>
        <a:srgbClr val="595959"/>
      </a:accent4>
      <a:accent5>
        <a:srgbClr val="A9CBB9"/>
      </a:accent5>
      <a:accent6>
        <a:srgbClr val="E3A33B"/>
      </a:accent6>
      <a:hlink>
        <a:srgbClr val="A9CBB9"/>
      </a:hlink>
      <a:folHlink>
        <a:srgbClr val="A9CBB9"/>
      </a:folHlink>
    </a:clrScheme>
    <a:fontScheme name="HaloNoi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1332</Words>
  <Application>Microsoft Office PowerPoint</Application>
  <PresentationFormat>Widescreen</PresentationFormat>
  <Paragraphs>170</Paragraphs>
  <Slides>10</Slides>
  <Notes>10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Agency FB</vt:lpstr>
      <vt:lpstr>Algerian</vt:lpstr>
      <vt:lpstr>Arial</vt:lpstr>
      <vt:lpstr>Arial Narrow</vt:lpstr>
      <vt:lpstr>Dubai</vt:lpstr>
      <vt:lpstr>HaloNoir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Tejaswini Mansingh</cp:lastModifiedBy>
  <cp:revision>9</cp:revision>
  <dcterms:created xsi:type="dcterms:W3CDTF">2026-10-10T20:03:06Z</dcterms:created>
  <dcterms:modified xsi:type="dcterms:W3CDTF">2026-10-11T04:39:10Z</dcterms:modified>
</cp:coreProperties>
</file>